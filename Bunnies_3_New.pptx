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5"/>
  </p:notesMasterIdLst>
  <p:sldIdLst>
    <p:sldId id="256" r:id="rId2"/>
    <p:sldId id="289" r:id="rId3"/>
    <p:sldId id="297" r:id="rId4"/>
    <p:sldId id="290" r:id="rId5"/>
    <p:sldId id="299" r:id="rId6"/>
    <p:sldId id="300" r:id="rId7"/>
    <p:sldId id="291" r:id="rId8"/>
    <p:sldId id="293" r:id="rId9"/>
    <p:sldId id="294" r:id="rId10"/>
    <p:sldId id="298" r:id="rId11"/>
    <p:sldId id="295" r:id="rId12"/>
    <p:sldId id="296" r:id="rId13"/>
    <p:sldId id="29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431" autoAdjust="0"/>
  </p:normalViewPr>
  <p:slideViewPr>
    <p:cSldViewPr snapToGrid="0">
      <p:cViewPr varScale="1">
        <p:scale>
          <a:sx n="81" d="100"/>
          <a:sy n="81" d="100"/>
        </p:scale>
        <p:origin x="60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6D596-4345-41F1-8C33-D5FFDBDA09DB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DD474-E2D3-4DE7-93E1-AAA5D2846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76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9207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83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79877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4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42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17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98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3178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6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0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15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247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8BAB7-826C-3B11-C203-0276B18CC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0297" y="2043431"/>
            <a:ext cx="8361229" cy="2098226"/>
          </a:xfrm>
        </p:spPr>
        <p:txBody>
          <a:bodyPr/>
          <a:lstStyle/>
          <a:p>
            <a:r>
              <a:rPr lang="ru-RU" dirty="0"/>
              <a:t>Система доставки еды</a:t>
            </a:r>
            <a:br>
              <a:rPr lang="ru-RU" dirty="0"/>
            </a:br>
            <a:r>
              <a:rPr lang="ru-RU" dirty="0"/>
              <a:t>«</a:t>
            </a:r>
            <a:r>
              <a:rPr lang="en-US" dirty="0"/>
              <a:t>Bunnies</a:t>
            </a:r>
            <a:r>
              <a:rPr lang="ru-RU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23D058-528A-C959-C72C-57D414F5B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0123" y="4150929"/>
            <a:ext cx="4878901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Выполнили: </a:t>
            </a:r>
          </a:p>
          <a:p>
            <a:pPr algn="l"/>
            <a:r>
              <a:rPr lang="ru-RU" dirty="0" err="1"/>
              <a:t>Прогонская</a:t>
            </a:r>
            <a:r>
              <a:rPr lang="ru-RU" dirty="0"/>
              <a:t> Анастасия,</a:t>
            </a:r>
          </a:p>
          <a:p>
            <a:pPr algn="l"/>
            <a:r>
              <a:rPr lang="ru-RU" dirty="0"/>
              <a:t>Кубышева Полина, Мамедов </a:t>
            </a:r>
            <a:r>
              <a:rPr lang="ru-RU" dirty="0" err="1"/>
              <a:t>Эмин</a:t>
            </a:r>
            <a:r>
              <a:rPr lang="ru-RU" dirty="0"/>
              <a:t>, </a:t>
            </a:r>
            <a:r>
              <a:rPr lang="ru-RU" dirty="0" err="1"/>
              <a:t>Углова</a:t>
            </a:r>
            <a:r>
              <a:rPr lang="ru-RU" dirty="0"/>
              <a:t> Анна, Костин Данила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3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85A1-3397-39DB-5606-B7F6381C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99807-FF02-D503-21C1-DE552665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97" y="685800"/>
            <a:ext cx="9813303" cy="1350390"/>
          </a:xfrm>
        </p:spPr>
        <p:txBody>
          <a:bodyPr>
            <a:normAutofit/>
          </a:bodyPr>
          <a:lstStyle/>
          <a:p>
            <a:pPr algn="ctr"/>
            <a:r>
              <a:rPr lang="ru-RU" sz="2400" dirty="0" err="1"/>
              <a:t>Bunnies</a:t>
            </a:r>
            <a:r>
              <a:rPr lang="ru-RU" sz="2400" dirty="0"/>
              <a:t> – сервис быстрой и удобной доставки еды с акцентом на здоровое питание и персонализацию.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E53B49-714E-9DD7-A710-B43EBC05C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23" y="2036190"/>
            <a:ext cx="9737889" cy="3886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Назначение:  </a:t>
            </a:r>
          </a:p>
          <a:p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клиентов, желающих заказать еду в ресторане «Аппетит» через Интернет, система доставки еды «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Bunnies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»— это интернет-приложение или приложение для смартфона, которое принимает заказы, взимает оплату и инициирует доставку готовых блюд к указанному пункту на территории Иваново. Клиенты, использующие «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Bunnies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», смогут быстро и удобно получить свой заказ, а сотрудники повысят эффективность работы за счет автоматизации процессов обработки и доставки заказов.</a:t>
            </a:r>
            <a:endParaRPr lang="ru-RU" dirty="0"/>
          </a:p>
          <a:p>
            <a:r>
              <a:rPr lang="ru-RU" dirty="0"/>
              <a:t>Мотивация (Почему?):  </a:t>
            </a:r>
          </a:p>
          <a:p>
            <a:pPr marL="0" indent="0">
              <a:buNone/>
            </a:pPr>
            <a:r>
              <a:rPr lang="ru-RU" dirty="0"/>
              <a:t>- Современные сервисы доставки часто предлагают нездоровую пищу или стандартные блюда без учета предпочтений.  </a:t>
            </a:r>
          </a:p>
          <a:p>
            <a:pPr marL="0" indent="0">
              <a:buNone/>
            </a:pPr>
            <a:r>
              <a:rPr lang="ru-RU" dirty="0"/>
              <a:t>- Пользователи хотят удобства, но также заботятся о качестве и пользе еды.  </a:t>
            </a:r>
          </a:p>
          <a:p>
            <a:pPr marL="0" indent="0">
              <a:buNone/>
            </a:pPr>
            <a:r>
              <a:rPr lang="ru-RU" dirty="0"/>
              <a:t>- Растет спрос на персонализированное питание (диеты, аллергии, веганство и т. д.). </a:t>
            </a:r>
          </a:p>
        </p:txBody>
      </p:sp>
    </p:spTree>
    <p:extLst>
      <p:ext uri="{BB962C8B-B14F-4D97-AF65-F5344CB8AC3E}">
        <p14:creationId xmlns:p14="http://schemas.microsoft.com/office/powerpoint/2010/main" val="62812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0FB2-FFB8-B61B-79F7-390EBD99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7399E-9700-AFAF-2783-C0D82850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20" y="335280"/>
            <a:ext cx="9813303" cy="1350390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Глоссарий проекта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48BB364-043F-DA6B-036D-98298E47D8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458204"/>
              </p:ext>
            </p:extLst>
          </p:nvPr>
        </p:nvGraphicFramePr>
        <p:xfrm>
          <a:off x="1920240" y="1310641"/>
          <a:ext cx="9112264" cy="4865079"/>
        </p:xfrm>
        <a:graphic>
          <a:graphicData uri="http://schemas.openxmlformats.org/drawingml/2006/table">
            <a:tbl>
              <a:tblPr/>
              <a:tblGrid>
                <a:gridCol w="4556132">
                  <a:extLst>
                    <a:ext uri="{9D8B030D-6E8A-4147-A177-3AD203B41FA5}">
                      <a16:colId xmlns:a16="http://schemas.microsoft.com/office/drawing/2014/main" val="2417876302"/>
                    </a:ext>
                  </a:extLst>
                </a:gridCol>
                <a:gridCol w="4556132">
                  <a:extLst>
                    <a:ext uri="{9D8B030D-6E8A-4147-A177-3AD203B41FA5}">
                      <a16:colId xmlns:a16="http://schemas.microsoft.com/office/drawing/2014/main" val="3440883674"/>
                    </a:ext>
                  </a:extLst>
                </a:gridCol>
              </a:tblGrid>
              <a:tr h="3837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Термин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Определение</a:t>
                      </a:r>
                    </a:p>
                  </a:txBody>
                  <a:tcPr marL="9792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25017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User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Пользователь системы с учетными данными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606439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Cart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Временная корзина товаров пользователя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71139"/>
                  </a:ext>
                </a:extLst>
              </a:tr>
              <a:tr h="63708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Order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Оформленный заказ на доставку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719280"/>
                  </a:ext>
                </a:extLst>
              </a:tr>
              <a:tr h="63708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quote-cjk-patch"/>
                        </a:rPr>
                        <a:t>MenuItem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Позиция в меню ресторана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885820"/>
                  </a:ext>
                </a:extLst>
              </a:tr>
              <a:tr h="3837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Payment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Платежная транзакция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3470"/>
                  </a:ext>
                </a:extLst>
              </a:tr>
              <a:tr h="63708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OrderStatus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Статус жизненного цикла заказа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4608"/>
                  </a:ext>
                </a:extLst>
              </a:tr>
              <a:tr h="8969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Session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Сессия авторизованного пользователя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896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63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028F-8B98-A761-D1CD-87CAE765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48195-38E4-4A2D-93C1-C7D11E4C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97" y="685800"/>
            <a:ext cx="9813303" cy="1350390"/>
          </a:xfrm>
        </p:spPr>
        <p:txBody>
          <a:bodyPr>
            <a:normAutofit/>
          </a:bodyPr>
          <a:lstStyle/>
          <a:p>
            <a:pPr algn="ctr"/>
            <a:r>
              <a:rPr lang="ru" sz="2400" dirty="0"/>
              <a:t>Ранжирование вариантов использования</a:t>
            </a:r>
            <a:endParaRPr lang="ru-RU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D5C7D21-5E52-19FA-79FF-EF7ADD8D0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221631"/>
              </p:ext>
            </p:extLst>
          </p:nvPr>
        </p:nvGraphicFramePr>
        <p:xfrm>
          <a:off x="1415934" y="1567763"/>
          <a:ext cx="9360132" cy="4438182"/>
        </p:xfrm>
        <a:graphic>
          <a:graphicData uri="http://schemas.openxmlformats.org/drawingml/2006/table">
            <a:tbl>
              <a:tblPr/>
              <a:tblGrid>
                <a:gridCol w="3120044">
                  <a:extLst>
                    <a:ext uri="{9D8B030D-6E8A-4147-A177-3AD203B41FA5}">
                      <a16:colId xmlns:a16="http://schemas.microsoft.com/office/drawing/2014/main" val="2059267809"/>
                    </a:ext>
                  </a:extLst>
                </a:gridCol>
                <a:gridCol w="3120044">
                  <a:extLst>
                    <a:ext uri="{9D8B030D-6E8A-4147-A177-3AD203B41FA5}">
                      <a16:colId xmlns:a16="http://schemas.microsoft.com/office/drawing/2014/main" val="128784782"/>
                    </a:ext>
                  </a:extLst>
                </a:gridCol>
                <a:gridCol w="3120044">
                  <a:extLst>
                    <a:ext uri="{9D8B030D-6E8A-4147-A177-3AD203B41FA5}">
                      <a16:colId xmlns:a16="http://schemas.microsoft.com/office/drawing/2014/main" val="1527549493"/>
                    </a:ext>
                  </a:extLst>
                </a:gridCol>
              </a:tblGrid>
              <a:tr h="61263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Вариант использования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Приоритет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Обоснование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471459"/>
                  </a:ext>
                </a:extLst>
              </a:tr>
              <a:tr h="61773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Регистрация пользователя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Высокий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Основная точка входа в систему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017963"/>
                  </a:ext>
                </a:extLst>
              </a:tr>
              <a:tr h="86336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Создание заказа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Высокий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Необходимо для основной функции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17872"/>
                  </a:ext>
                </a:extLst>
              </a:tr>
              <a:tr h="86336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Оплата заказа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Высокий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Завершение заказа, получение денег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87995"/>
                  </a:ext>
                </a:extLst>
              </a:tr>
              <a:tr h="86336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Просмотр меню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Средний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Важно, но после основных функций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91222"/>
                  </a:ext>
                </a:extLst>
              </a:tr>
              <a:tr h="61773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Оставить отзыв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Низкий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Дополнительная функция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372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936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04E96A-5F4B-1999-2884-C253DB4F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96245"/>
          </a:xfrm>
        </p:spPr>
        <p:txBody>
          <a:bodyPr>
            <a:normAutofit/>
          </a:bodyPr>
          <a:lstStyle/>
          <a:p>
            <a:r>
              <a:rPr lang="ru-RU" sz="2400" dirty="0"/>
              <a:t>Вариант использования 1: Регистрация нового пользователя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DFC38E-F0B1-B630-58FB-C056C7712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372" y="2475518"/>
            <a:ext cx="4817097" cy="3530338"/>
          </a:xfrm>
        </p:spPr>
        <p:txBody>
          <a:bodyPr>
            <a:normAutofit/>
          </a:bodyPr>
          <a:lstStyle/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Пользователь заходит на сайт или в мобильное приложение.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Пользователь выбирает функцию "Регистрация".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Пользователь вводит свои данные (имя, </a:t>
            </a:r>
            <a:r>
              <a:rPr lang="ru-RU" sz="1600" dirty="0" err="1">
                <a:solidFill>
                  <a:schemeClr val="dk1"/>
                </a:solidFill>
              </a:rPr>
              <a:t>email</a:t>
            </a:r>
            <a:r>
              <a:rPr lang="ru-RU" sz="1600" dirty="0">
                <a:solidFill>
                  <a:schemeClr val="dk1"/>
                </a:solidFill>
              </a:rPr>
              <a:t>, пароль, телефон, адрес доставки).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Система проверяет корректность введённых данных.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 случае успеха, система создает аккаунт и сообщает о успешной регистрации.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Пользователь входит в систему под созданными учетными данными</a:t>
            </a:r>
            <a:r>
              <a:rPr lang="ru-RU" sz="1600" dirty="0">
                <a:solidFill>
                  <a:srgbClr val="E6E6E6"/>
                </a:solidFill>
              </a:rPr>
              <a:t>.</a:t>
            </a:r>
          </a:p>
          <a:p>
            <a:pPr marL="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ru-RU" sz="1600" dirty="0"/>
          </a:p>
        </p:txBody>
      </p:sp>
      <p:pic>
        <p:nvPicPr>
          <p:cNvPr id="4" name="Google Shape;77;p15" title="IMG_1314.jpeg">
            <a:extLst>
              <a:ext uri="{FF2B5EF4-FFF2-40B4-BE49-F238E27FC236}">
                <a16:creationId xmlns:a16="http://schemas.microsoft.com/office/drawing/2014/main" id="{90764DD6-EEE5-3BDA-B7ED-CBED2E401FE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7856" y="2475518"/>
            <a:ext cx="3344944" cy="2955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854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91DB-7619-2BA9-8E31-8C6C8AAF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8165A-0BB9-4E86-1189-6D1F0A1E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49111"/>
          </a:xfrm>
        </p:spPr>
        <p:txBody>
          <a:bodyPr>
            <a:normAutofit/>
          </a:bodyPr>
          <a:lstStyle/>
          <a:p>
            <a:r>
              <a:rPr lang="ru-RU" sz="2000" dirty="0"/>
              <a:t>Вариант использования 2: Создание нового заказа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F1D5BE-7ED7-F408-5BA8-85B4C3985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369" y="2417975"/>
            <a:ext cx="6801439" cy="3581400"/>
          </a:xfrm>
        </p:spPr>
        <p:txBody>
          <a:bodyPr>
            <a:normAutofit/>
          </a:bodyPr>
          <a:lstStyle/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авторизован и зашёл в систему.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просматривает меню блюд.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выбирает блюда, добавляет их в корзину.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переходит к оформлению заказа.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Вводит или подтверждает адрес доставки.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Система отображает итоговую сумму.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подтверждает заказ.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Система сохраняет заказ и переходит к оплате</a:t>
            </a:r>
          </a:p>
          <a:p>
            <a:pPr marL="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ru-RU" sz="1800" dirty="0"/>
          </a:p>
        </p:txBody>
      </p:sp>
      <p:pic>
        <p:nvPicPr>
          <p:cNvPr id="5" name="Google Shape;84;p16" title="IMG_1315.jpeg">
            <a:extLst>
              <a:ext uri="{FF2B5EF4-FFF2-40B4-BE49-F238E27FC236}">
                <a16:creationId xmlns:a16="http://schemas.microsoft.com/office/drawing/2014/main" id="{5585AE7B-28FE-EEE4-AB81-B20AD62CB64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0098" y="2417975"/>
            <a:ext cx="3712249" cy="283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462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83E18-BC60-54E9-6575-A2450778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01208"/>
            <a:ext cx="9601200" cy="1485900"/>
          </a:xfrm>
        </p:spPr>
        <p:txBody>
          <a:bodyPr>
            <a:normAutofit/>
          </a:bodyPr>
          <a:lstStyle/>
          <a:p>
            <a:r>
              <a:rPr lang="ru-RU" sz="2400" b="1" dirty="0"/>
              <a:t>Диаграмма последовательности - Регистрация пользователя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9620FF-272E-D3AA-0278-4B39FA9C8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822960"/>
            <a:ext cx="6839524" cy="5833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703F4E-C92C-C767-350E-3B3FAA5F48B6}"/>
              </a:ext>
            </a:extLst>
          </p:cNvPr>
          <p:cNvSpPr txBox="1"/>
          <p:nvPr/>
        </p:nvSpPr>
        <p:spPr>
          <a:xfrm>
            <a:off x="8531164" y="2281058"/>
            <a:ext cx="38741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Предусловие: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Пользователь не авторизован в системе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br>
              <a:rPr lang="ru-RU" dirty="0"/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Постусловие: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 системе создан новый аккаунт, пользователь авторизован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6879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376C-22D9-4000-731E-5AD2337F0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32E69-0B82-DCDD-32A4-993E65EF7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01208"/>
            <a:ext cx="9601200" cy="1485900"/>
          </a:xfrm>
        </p:spPr>
        <p:txBody>
          <a:bodyPr>
            <a:normAutofit/>
          </a:bodyPr>
          <a:lstStyle/>
          <a:p>
            <a:r>
              <a:rPr lang="ru-RU" sz="2400" b="1" dirty="0"/>
              <a:t>Диаграмма последовательности – Создание заказа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49C0C-F5FD-F04B-B251-11B60D3FFD27}"/>
              </a:ext>
            </a:extLst>
          </p:cNvPr>
          <p:cNvSpPr txBox="1"/>
          <p:nvPr/>
        </p:nvSpPr>
        <p:spPr>
          <a:xfrm>
            <a:off x="8683564" y="2201458"/>
            <a:ext cx="35084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Предусловие: 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Пользователь авторизован в системе</a:t>
            </a:r>
          </a:p>
          <a:p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Постусловие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: В системе создан новый заказ со статусом "Ожидает оплаты"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982AD2-683F-AF16-B1F1-1640F6D12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10" y="715558"/>
            <a:ext cx="7558254" cy="571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17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EFAA2-DC72-EBF0-C46D-818286903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804160"/>
            <a:ext cx="3017520" cy="624840"/>
          </a:xfrm>
        </p:spPr>
        <p:txBody>
          <a:bodyPr>
            <a:normAutofit fontScale="90000"/>
          </a:bodyPr>
          <a:lstStyle/>
          <a:p>
            <a:r>
              <a:rPr lang="ru-RU" sz="2700" b="1" dirty="0"/>
              <a:t>Исходная модель </a:t>
            </a:r>
            <a:br>
              <a:rPr lang="ru-RU" sz="2700" b="1" dirty="0"/>
            </a:br>
            <a:r>
              <a:rPr lang="ru-RU" sz="2700" b="1" dirty="0"/>
              <a:t>классов (Аналитическая)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1E10F0-0E1B-BDFE-E035-8EE132E57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1442"/>
            <a:ext cx="4539590" cy="659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13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1DBF9B0-5206-D713-E4B6-2A0A9D153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66675"/>
            <a:ext cx="10332720" cy="4358640"/>
          </a:xfrm>
        </p:spPr>
        <p:txBody>
          <a:bodyPr>
            <a:noAutofit/>
          </a:bodyPr>
          <a:lstStyle/>
          <a:p>
            <a:r>
              <a:rPr lang="ru-RU" sz="1300" b="1" dirty="0"/>
              <a:t>Основные классы:</a:t>
            </a:r>
          </a:p>
          <a:p>
            <a:pPr marL="0" indent="0">
              <a:buNone/>
            </a:pPr>
            <a:r>
              <a:rPr lang="ru-RU" sz="1300" b="1" dirty="0"/>
              <a:t>User</a:t>
            </a:r>
            <a:r>
              <a:rPr lang="ru-RU" sz="1300" dirty="0"/>
              <a:t> - пользователь системы с базовыми данными</a:t>
            </a:r>
          </a:p>
          <a:p>
            <a:pPr marL="0" indent="0">
              <a:buNone/>
            </a:pPr>
            <a:r>
              <a:rPr lang="ru-RU" sz="1300" b="1" dirty="0" err="1"/>
              <a:t>Cart</a:t>
            </a:r>
            <a:r>
              <a:rPr lang="ru-RU" sz="1300" dirty="0"/>
              <a:t> - корзина покупок пользователя</a:t>
            </a:r>
          </a:p>
          <a:p>
            <a:pPr marL="0" indent="0">
              <a:buNone/>
            </a:pPr>
            <a:r>
              <a:rPr lang="ru-RU" sz="1300" b="1" dirty="0" err="1"/>
              <a:t>CartItem</a:t>
            </a:r>
            <a:r>
              <a:rPr lang="ru-RU" sz="1300" dirty="0"/>
              <a:t> - элемент корзины с количеством</a:t>
            </a:r>
          </a:p>
          <a:p>
            <a:pPr marL="0" indent="0">
              <a:buNone/>
            </a:pPr>
            <a:r>
              <a:rPr lang="ru-RU" sz="1300" b="1" dirty="0" err="1"/>
              <a:t>MenuItem</a:t>
            </a:r>
            <a:r>
              <a:rPr lang="ru-RU" sz="1300" dirty="0"/>
              <a:t> - блюдо в меню с описанием и ценой</a:t>
            </a:r>
          </a:p>
          <a:p>
            <a:pPr marL="0" indent="0">
              <a:buNone/>
            </a:pPr>
            <a:r>
              <a:rPr lang="ru-RU" sz="1300" b="1" dirty="0" err="1"/>
              <a:t>Order</a:t>
            </a:r>
            <a:r>
              <a:rPr lang="ru-RU" sz="1300" dirty="0"/>
              <a:t> - оформленный заказ</a:t>
            </a:r>
          </a:p>
          <a:p>
            <a:pPr marL="0" indent="0">
              <a:buNone/>
            </a:pPr>
            <a:r>
              <a:rPr lang="ru-RU" sz="1300" b="1" dirty="0" err="1"/>
              <a:t>OrderItem</a:t>
            </a:r>
            <a:r>
              <a:rPr lang="ru-RU" sz="1300" dirty="0"/>
              <a:t> - позиция в заказе</a:t>
            </a:r>
          </a:p>
          <a:p>
            <a:pPr marL="0" indent="0">
              <a:buNone/>
            </a:pPr>
            <a:r>
              <a:rPr lang="ru-RU" sz="1300" b="1" dirty="0" err="1"/>
              <a:t>Payment</a:t>
            </a:r>
            <a:r>
              <a:rPr lang="ru-RU" sz="1300" dirty="0"/>
              <a:t> - информация об оплате</a:t>
            </a:r>
          </a:p>
          <a:p>
            <a:r>
              <a:rPr lang="ru-RU" sz="1300" b="1" dirty="0"/>
              <a:t>Отношения:</a:t>
            </a:r>
          </a:p>
          <a:p>
            <a:pPr marL="0" indent="0">
              <a:buNone/>
            </a:pPr>
            <a:r>
              <a:rPr lang="ru-RU" sz="1300" dirty="0"/>
              <a:t>Пользователь имеет одну корзину</a:t>
            </a:r>
          </a:p>
          <a:p>
            <a:pPr marL="0" indent="0">
              <a:buNone/>
            </a:pPr>
            <a:r>
              <a:rPr lang="ru-RU" sz="1300" dirty="0"/>
              <a:t>Пользователь размещает много заказов</a:t>
            </a:r>
          </a:p>
          <a:p>
            <a:pPr marL="0" indent="0">
              <a:buNone/>
            </a:pPr>
            <a:r>
              <a:rPr lang="ru-RU" sz="1300" dirty="0"/>
              <a:t>Корзина содержит много элементов</a:t>
            </a:r>
          </a:p>
          <a:p>
            <a:pPr marL="0" indent="0">
              <a:buNone/>
            </a:pPr>
            <a:r>
              <a:rPr lang="ru-RU" sz="1300" dirty="0"/>
              <a:t>Заказ содержит много позиций</a:t>
            </a:r>
          </a:p>
          <a:p>
            <a:pPr marL="0" indent="0">
              <a:buNone/>
            </a:pPr>
            <a:r>
              <a:rPr lang="ru-RU" sz="1300" dirty="0"/>
              <a:t>Элементы корзины и позиции заказа ссылаются на </a:t>
            </a:r>
            <a:r>
              <a:rPr lang="ru-RU" sz="1300" dirty="0" err="1"/>
              <a:t>MenuItem</a:t>
            </a:r>
            <a:endParaRPr lang="ru-RU" sz="1300" dirty="0"/>
          </a:p>
          <a:p>
            <a:pPr marL="0" indent="0">
              <a:buNone/>
            </a:pPr>
            <a:r>
              <a:rPr lang="ru-RU" sz="1300" dirty="0"/>
              <a:t>Заказ имеет одну оплату</a:t>
            </a:r>
          </a:p>
          <a:p>
            <a:r>
              <a:rPr lang="ru-RU" sz="1300" b="1" dirty="0"/>
              <a:t>Особенности аналитической модели:</a:t>
            </a:r>
          </a:p>
          <a:p>
            <a:pPr marL="0" indent="0">
              <a:buNone/>
            </a:pPr>
            <a:r>
              <a:rPr lang="ru-RU" sz="1300" dirty="0"/>
              <a:t>Простые типы данных (</a:t>
            </a:r>
            <a:r>
              <a:rPr lang="ru-RU" sz="1300" dirty="0" err="1"/>
              <a:t>String</a:t>
            </a:r>
            <a:r>
              <a:rPr lang="ru-RU" sz="1300" dirty="0"/>
              <a:t>, </a:t>
            </a:r>
            <a:r>
              <a:rPr lang="ru-RU" sz="1300" dirty="0" err="1"/>
              <a:t>double</a:t>
            </a:r>
            <a:r>
              <a:rPr lang="ru-RU" sz="1300" dirty="0"/>
              <a:t>)</a:t>
            </a:r>
          </a:p>
          <a:p>
            <a:pPr marL="0" indent="0">
              <a:buNone/>
            </a:pPr>
            <a:r>
              <a:rPr lang="ru-RU" sz="1300" dirty="0"/>
              <a:t>Базовые атрибуты без методов</a:t>
            </a:r>
          </a:p>
          <a:p>
            <a:pPr marL="0" indent="0">
              <a:buNone/>
            </a:pPr>
            <a:r>
              <a:rPr lang="ru-RU" sz="1300" dirty="0"/>
              <a:t>Простые ассоциации без указания типа отношений</a:t>
            </a:r>
          </a:p>
          <a:p>
            <a:pPr marL="0" indent="0">
              <a:buNone/>
            </a:pPr>
            <a:r>
              <a:rPr lang="ru-RU" sz="1300" dirty="0"/>
              <a:t>Отсутствуют перечисления и сложные типы</a:t>
            </a:r>
          </a:p>
          <a:p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4143036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0402-122A-526F-5580-7C3BE319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5F9B0-B231-544C-1AB5-F2903733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04160"/>
            <a:ext cx="3495675" cy="62484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b="1" dirty="0"/>
              <a:t>Уточненная проектная</a:t>
            </a:r>
            <a:br>
              <a:rPr lang="ru-RU" sz="2700" b="1" dirty="0"/>
            </a:br>
            <a:r>
              <a:rPr lang="ru-RU" sz="2700" b="1" dirty="0"/>
              <a:t>модель классов</a:t>
            </a: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endParaRPr lang="ru-RU" sz="27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6D01D8-F106-53B5-62FC-A0A8A349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83523"/>
            <a:ext cx="5181600" cy="669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51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367A84-F9BD-0959-86F4-D13BA290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15290"/>
            <a:ext cx="9601200" cy="37719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b="1" dirty="0"/>
              <a:t>Улучшения в проектной модели</a:t>
            </a:r>
            <a:br>
              <a:rPr lang="ru-RU" sz="2000" b="1" dirty="0"/>
            </a:br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CAF2D3-5DF1-1613-E766-7D79C73FA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1402080"/>
            <a:ext cx="5730240" cy="4053840"/>
          </a:xfrm>
        </p:spPr>
        <p:txBody>
          <a:bodyPr>
            <a:noAutofit/>
          </a:bodyPr>
          <a:lstStyle/>
          <a:p>
            <a:r>
              <a:rPr lang="ru-RU" sz="1800" dirty="0"/>
              <a:t>1. Уточнение имен и типов данных:</a:t>
            </a:r>
          </a:p>
          <a:p>
            <a:pPr marL="0" indent="0">
              <a:buNone/>
            </a:pPr>
            <a:r>
              <a:rPr lang="en-US" sz="1800" dirty="0"/>
              <a:t>password → </a:t>
            </a:r>
            <a:r>
              <a:rPr lang="en-US" sz="1800" dirty="0" err="1"/>
              <a:t>passwordHash</a:t>
            </a:r>
            <a:r>
              <a:rPr lang="en-US" sz="1800" dirty="0"/>
              <a:t> (</a:t>
            </a:r>
            <a:r>
              <a:rPr lang="ru-RU" sz="1800" dirty="0"/>
              <a:t>безопасное хранение)</a:t>
            </a:r>
          </a:p>
          <a:p>
            <a:pPr marL="0" indent="0">
              <a:buNone/>
            </a:pPr>
            <a:r>
              <a:rPr lang="en-US" sz="1800" dirty="0"/>
              <a:t>name → </a:t>
            </a:r>
            <a:r>
              <a:rPr lang="en-US" sz="1800" dirty="0" err="1"/>
              <a:t>fullName</a:t>
            </a:r>
            <a:r>
              <a:rPr lang="en-US" sz="1800" dirty="0"/>
              <a:t> (</a:t>
            </a:r>
            <a:r>
              <a:rPr lang="ru-RU" sz="1800" dirty="0"/>
              <a:t>уточнение)</a:t>
            </a:r>
          </a:p>
          <a:p>
            <a:pPr marL="0" indent="0">
              <a:buNone/>
            </a:pPr>
            <a:r>
              <a:rPr lang="en-US" sz="1800" dirty="0"/>
              <a:t>address → </a:t>
            </a:r>
            <a:r>
              <a:rPr lang="en-US" sz="1800" dirty="0" err="1"/>
              <a:t>deliveryAddress</a:t>
            </a:r>
            <a:r>
              <a:rPr lang="en-US" sz="1800" dirty="0"/>
              <a:t> (</a:t>
            </a:r>
            <a:r>
              <a:rPr lang="ru-RU" sz="1800" dirty="0"/>
              <a:t>контекст)</a:t>
            </a:r>
          </a:p>
          <a:p>
            <a:pPr marL="0" indent="0">
              <a:buNone/>
            </a:pPr>
            <a:r>
              <a:rPr lang="en-US" sz="1800" dirty="0"/>
              <a:t>double → </a:t>
            </a:r>
            <a:r>
              <a:rPr lang="en-US" sz="1800" dirty="0" err="1"/>
              <a:t>BigDecimal</a:t>
            </a:r>
            <a:r>
              <a:rPr lang="en-US" sz="1800" dirty="0"/>
              <a:t> (</a:t>
            </a:r>
            <a:r>
              <a:rPr lang="ru-RU" sz="1800" dirty="0"/>
              <a:t>точность денежных операций)</a:t>
            </a:r>
          </a:p>
          <a:p>
            <a:r>
              <a:rPr lang="ru-RU" sz="1800" dirty="0"/>
              <a:t>2. Добавлены методы:</a:t>
            </a:r>
          </a:p>
          <a:p>
            <a:pPr marL="0" indent="0">
              <a:buNone/>
            </a:pPr>
            <a:r>
              <a:rPr lang="ru-RU" sz="1800" dirty="0"/>
              <a:t>Бизнес-логика из диаграмм последовательности</a:t>
            </a:r>
          </a:p>
          <a:p>
            <a:pPr marL="0" indent="0">
              <a:buNone/>
            </a:pPr>
            <a:r>
              <a:rPr lang="ru-RU" sz="1800" dirty="0"/>
              <a:t>Операции управления состоянием</a:t>
            </a:r>
          </a:p>
          <a:p>
            <a:pPr marL="0" indent="0">
              <a:buNone/>
            </a:pPr>
            <a:r>
              <a:rPr lang="ru-RU" sz="1800" dirty="0"/>
              <a:t>Методы расчета сумм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182581A-3A77-BBB0-7F46-13AD4540ED33}"/>
              </a:ext>
            </a:extLst>
          </p:cNvPr>
          <p:cNvSpPr txBox="1">
            <a:spLocks/>
          </p:cNvSpPr>
          <p:nvPr/>
        </p:nvSpPr>
        <p:spPr>
          <a:xfrm>
            <a:off x="6461760" y="1402080"/>
            <a:ext cx="5730240" cy="4053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3. Уточнены отношения:</a:t>
            </a:r>
          </a:p>
          <a:p>
            <a:pPr marL="0" indent="0">
              <a:buNone/>
            </a:pPr>
            <a:r>
              <a:rPr lang="ru-RU" sz="1800" dirty="0"/>
              <a:t>Композиция: </a:t>
            </a:r>
            <a:r>
              <a:rPr lang="en-US" sz="1800" dirty="0"/>
              <a:t>Order-</a:t>
            </a:r>
            <a:r>
              <a:rPr lang="en-US" sz="1800" dirty="0" err="1"/>
              <a:t>OrderItem</a:t>
            </a:r>
            <a:r>
              <a:rPr lang="en-US" sz="1800" dirty="0"/>
              <a:t>, Cart-</a:t>
            </a:r>
            <a:r>
              <a:rPr lang="en-US" sz="1800" dirty="0" err="1"/>
              <a:t>CartItem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Агрегация: </a:t>
            </a:r>
            <a:r>
              <a:rPr lang="en-US" sz="1800" dirty="0"/>
              <a:t>User-Order, User-Cart, Order-Payment</a:t>
            </a:r>
          </a:p>
          <a:p>
            <a:pPr marL="0" indent="0">
              <a:buNone/>
            </a:pPr>
            <a:r>
              <a:rPr lang="ru-RU" sz="1800" dirty="0"/>
              <a:t>Ассоциация: </a:t>
            </a:r>
            <a:r>
              <a:rPr lang="en-US" sz="1800" dirty="0" err="1"/>
              <a:t>CartItem-MenuItem</a:t>
            </a:r>
            <a:r>
              <a:rPr lang="en-US" sz="1800" dirty="0"/>
              <a:t>, </a:t>
            </a:r>
            <a:r>
              <a:rPr lang="en-US" sz="1800" dirty="0" err="1"/>
              <a:t>OrderItem-MenuItem</a:t>
            </a:r>
            <a:endParaRPr lang="en-US" sz="1800" dirty="0"/>
          </a:p>
          <a:p>
            <a:r>
              <a:rPr lang="en-US" sz="1800" dirty="0"/>
              <a:t>4. </a:t>
            </a:r>
            <a:r>
              <a:rPr lang="ru-RU" sz="1800" dirty="0"/>
              <a:t>Добавлены перечисления:</a:t>
            </a:r>
          </a:p>
          <a:p>
            <a:pPr marL="0" indent="0">
              <a:buNone/>
            </a:pPr>
            <a:r>
              <a:rPr lang="en-US" sz="1800" dirty="0" err="1"/>
              <a:t>OrderStatus</a:t>
            </a:r>
            <a:r>
              <a:rPr lang="en-US" sz="1800" dirty="0"/>
              <a:t> - </a:t>
            </a:r>
            <a:r>
              <a:rPr lang="ru-RU" sz="1800" dirty="0"/>
              <a:t>статусы заказа</a:t>
            </a:r>
          </a:p>
          <a:p>
            <a:pPr marL="0" indent="0">
              <a:buNone/>
            </a:pPr>
            <a:r>
              <a:rPr lang="en-US" sz="1800" dirty="0" err="1"/>
              <a:t>PaymentStatus</a:t>
            </a:r>
            <a:r>
              <a:rPr lang="en-US" sz="1800" dirty="0"/>
              <a:t> - </a:t>
            </a:r>
            <a:r>
              <a:rPr lang="ru-RU" sz="1800" dirty="0"/>
              <a:t>статусы оплаты</a:t>
            </a:r>
          </a:p>
        </p:txBody>
      </p:sp>
    </p:spTree>
    <p:extLst>
      <p:ext uri="{BB962C8B-B14F-4D97-AF65-F5344CB8AC3E}">
        <p14:creationId xmlns:p14="http://schemas.microsoft.com/office/powerpoint/2010/main" val="1607175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395CD-F855-A2A6-395B-3FEDFDEC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/>
              <a:t>Результаты итерации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E221C-04C5-7162-2862-DC3FD65B9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000250"/>
            <a:ext cx="9601200" cy="3581400"/>
          </a:xfrm>
        </p:spPr>
        <p:txBody>
          <a:bodyPr/>
          <a:lstStyle/>
          <a:p>
            <a:r>
              <a:rPr lang="ru-RU" dirty="0"/>
              <a:t>Построены диаграммы последовательности для основных вариантов использования</a:t>
            </a:r>
          </a:p>
          <a:p>
            <a:endParaRPr lang="ru-RU" dirty="0"/>
          </a:p>
          <a:p>
            <a:r>
              <a:rPr lang="ru-RU" dirty="0"/>
              <a:t>Преобразована аналитическая модель в проектируемую</a:t>
            </a:r>
          </a:p>
          <a:p>
            <a:endParaRPr lang="ru-RU" dirty="0"/>
          </a:p>
          <a:p>
            <a:r>
              <a:rPr lang="ru-RU" dirty="0"/>
              <a:t>Уточнены типы данных, методы и отношения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805126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Другая 4">
      <a:dk1>
        <a:sysClr val="windowText" lastClr="000000"/>
      </a:dk1>
      <a:lt1>
        <a:sysClr val="window" lastClr="FFFFFF"/>
      </a:lt1>
      <a:dk2>
        <a:srgbClr val="491347"/>
      </a:dk2>
      <a:lt2>
        <a:srgbClr val="EAE5EB"/>
      </a:lt2>
      <a:accent1>
        <a:srgbClr val="92278F"/>
      </a:accent1>
      <a:accent2>
        <a:srgbClr val="D565D2"/>
      </a:accent2>
      <a:accent3>
        <a:srgbClr val="D565D2"/>
      </a:accent3>
      <a:accent4>
        <a:srgbClr val="D565D2"/>
      </a:accent4>
      <a:accent5>
        <a:srgbClr val="E398E1"/>
      </a:accent5>
      <a:accent6>
        <a:srgbClr val="F1CBF0"/>
      </a:accent6>
      <a:hlink>
        <a:srgbClr val="92278F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360</TotalTime>
  <Words>716</Words>
  <Application>Microsoft Office PowerPoint</Application>
  <PresentationFormat>Широкоэкранный</PresentationFormat>
  <Paragraphs>115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Calibri</vt:lpstr>
      <vt:lpstr>Franklin Gothic Book</vt:lpstr>
      <vt:lpstr>quote-cjk-patch</vt:lpstr>
      <vt:lpstr>Crop</vt:lpstr>
      <vt:lpstr>Система доставки еды «Bunnies»</vt:lpstr>
      <vt:lpstr>Bunnies – сервис быстрой и удобной доставки еды с акцентом на здоровое питание и персонализацию. </vt:lpstr>
      <vt:lpstr>Глоссарий проекта</vt:lpstr>
      <vt:lpstr>Ранжирование вариантов использования</vt:lpstr>
      <vt:lpstr>Вариант использования 1: Регистрация нового пользователя</vt:lpstr>
      <vt:lpstr>Вариант использования 2: Создание нового заказа</vt:lpstr>
      <vt:lpstr>Диаграмма последовательности - Регистрация пользователя</vt:lpstr>
      <vt:lpstr>Диаграмма последовательности – Создание заказа</vt:lpstr>
      <vt:lpstr>Исходная модель  классов (Аналитическая) </vt:lpstr>
      <vt:lpstr>Презентация PowerPoint</vt:lpstr>
      <vt:lpstr>Уточненная проектная модель классов                                                                            </vt:lpstr>
      <vt:lpstr>Улучшения в проектной модели </vt:lpstr>
      <vt:lpstr>Результаты итерации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доставки еды «Two Bunnies»</dc:title>
  <dc:creator>Настя</dc:creator>
  <cp:lastModifiedBy>Полина Кубышева</cp:lastModifiedBy>
  <cp:revision>35</cp:revision>
  <dcterms:created xsi:type="dcterms:W3CDTF">2022-10-19T15:48:45Z</dcterms:created>
  <dcterms:modified xsi:type="dcterms:W3CDTF">2025-11-10T14:15:09Z</dcterms:modified>
</cp:coreProperties>
</file>