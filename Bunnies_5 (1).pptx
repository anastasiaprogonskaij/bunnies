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notesMasterIdLst>
    <p:notesMasterId r:id="rId11"/>
  </p:notesMasterIdLst>
  <p:sldIdLst>
    <p:sldId id="256" r:id="rId2"/>
    <p:sldId id="289" r:id="rId3"/>
    <p:sldId id="302" r:id="rId4"/>
    <p:sldId id="301" r:id="rId5"/>
    <p:sldId id="304" r:id="rId6"/>
    <p:sldId id="308" r:id="rId7"/>
    <p:sldId id="307" r:id="rId8"/>
    <p:sldId id="305" r:id="rId9"/>
    <p:sldId id="306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13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182" autoAdjust="0"/>
    <p:restoredTop sz="94431" autoAdjust="0"/>
  </p:normalViewPr>
  <p:slideViewPr>
    <p:cSldViewPr snapToGrid="0">
      <p:cViewPr>
        <p:scale>
          <a:sx n="75" d="100"/>
          <a:sy n="75" d="100"/>
        </p:scale>
        <p:origin x="830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36D596-4345-41F1-8C33-D5FFDBDA09DB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9DD474-E2D3-4DE7-93E1-AAA5D2846E4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6763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5F01B63F-C133-4857-92A2-47A83411716A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2920781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B63F-C133-4857-92A2-47A83411716A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49836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F01B63F-C133-4857-92A2-47A83411716A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20798772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B63F-C133-4857-92A2-47A83411716A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10476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B63F-C133-4857-92A2-47A83411716A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54217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B63F-C133-4857-92A2-47A83411716A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0178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B63F-C133-4857-92A2-47A83411716A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8982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F01B63F-C133-4857-92A2-47A83411716A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9331781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F01B63F-C133-4857-92A2-47A83411716A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464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B63F-C133-4857-92A2-47A83411716A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8408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01B63F-C133-4857-92A2-47A83411716A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841588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5F01B63F-C133-4857-92A2-47A83411716A}" type="datetimeFigureOut">
              <a:rPr lang="ru-RU" smtClean="0"/>
              <a:t>02.12.2025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DB2EAD10-6C96-400C-A593-45909D4B4BAC}" type="slidenum">
              <a:rPr lang="ru-RU" smtClean="0"/>
              <a:t>‹#›</a:t>
            </a:fld>
            <a:endParaRPr lang="ru-RU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7024707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A218BAB7-826C-3B11-C203-0276B18CC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0297" y="2043431"/>
            <a:ext cx="8361229" cy="2098226"/>
          </a:xfrm>
        </p:spPr>
        <p:txBody>
          <a:bodyPr/>
          <a:lstStyle/>
          <a:p>
            <a:r>
              <a:rPr lang="ru-RU" dirty="0"/>
              <a:t>Система доставки еды</a:t>
            </a:r>
            <a:br>
              <a:rPr lang="ru-RU" dirty="0"/>
            </a:br>
            <a:r>
              <a:rPr lang="ru-RU" dirty="0"/>
              <a:t>«</a:t>
            </a:r>
            <a:r>
              <a:rPr lang="en-US" dirty="0"/>
              <a:t>Bunnies</a:t>
            </a:r>
            <a:r>
              <a:rPr lang="ru-RU" dirty="0"/>
              <a:t>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1623D058-528A-C959-C72C-57D414F5BA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60123" y="4150929"/>
            <a:ext cx="4878901" cy="1655762"/>
          </a:xfrm>
        </p:spPr>
        <p:txBody>
          <a:bodyPr>
            <a:normAutofit lnSpcReduction="10000"/>
          </a:bodyPr>
          <a:lstStyle/>
          <a:p>
            <a:pPr algn="l"/>
            <a:r>
              <a:rPr lang="ru-RU" dirty="0"/>
              <a:t>Выполнили: </a:t>
            </a:r>
          </a:p>
          <a:p>
            <a:pPr algn="l"/>
            <a:r>
              <a:rPr lang="ru-RU" dirty="0" err="1"/>
              <a:t>Прогонская</a:t>
            </a:r>
            <a:r>
              <a:rPr lang="ru-RU" dirty="0"/>
              <a:t> Анастасия,</a:t>
            </a:r>
          </a:p>
          <a:p>
            <a:pPr algn="l"/>
            <a:r>
              <a:rPr lang="ru-RU" dirty="0"/>
              <a:t>Кубышева Полина, Мамедов </a:t>
            </a:r>
            <a:r>
              <a:rPr lang="ru-RU" dirty="0" err="1"/>
              <a:t>Эмин</a:t>
            </a:r>
            <a:r>
              <a:rPr lang="ru-RU" dirty="0"/>
              <a:t>, </a:t>
            </a:r>
            <a:r>
              <a:rPr lang="ru-RU" dirty="0" err="1"/>
              <a:t>Углова</a:t>
            </a:r>
            <a:r>
              <a:rPr lang="ru-RU" dirty="0"/>
              <a:t> Анна, Костин Данила</a:t>
            </a:r>
          </a:p>
          <a:p>
            <a:pPr algn="l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3202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12C85A1-3397-39DB-5606-B7F6381CE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8899807-FF02-D503-21C1-DE55266553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9497" y="685800"/>
            <a:ext cx="9813303" cy="1350390"/>
          </a:xfrm>
        </p:spPr>
        <p:txBody>
          <a:bodyPr>
            <a:normAutofit/>
          </a:bodyPr>
          <a:lstStyle/>
          <a:p>
            <a:pPr algn="ctr"/>
            <a:r>
              <a:rPr lang="ru-RU" sz="2400" dirty="0" err="1"/>
              <a:t>Bunnies</a:t>
            </a:r>
            <a:r>
              <a:rPr lang="ru-RU" sz="2400" dirty="0"/>
              <a:t> – сервис быстрой и удобной доставки еды с акцентом на здоровое питание и персонализацию.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5BE53B49-714E-9DD7-A710-B43EBC05C9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5423" y="2036190"/>
            <a:ext cx="9737889" cy="38862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dirty="0"/>
              <a:t>Назначение:  </a:t>
            </a:r>
          </a:p>
          <a:p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Для клиентов, желающих заказать еду в ресторане «Аппетит» через Интернет, система доставки еды «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Bunnies</a:t>
            </a:r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»— это интернет-приложение или приложение для смартфона, которое принимает заказы, взимает оплату и инициирует доставку готовых блюд к указанному пункту на территории Иваново. Клиенты, использующие «</a:t>
            </a:r>
            <a:r>
              <a:rPr lang="en-US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Bunnies</a:t>
            </a:r>
            <a:r>
              <a:rPr lang="ru-RU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», смогут быстро и удобно получить свой заказ, а сотрудники повысят эффективность работы за счет автоматизации процессов обработки и доставки заказов.</a:t>
            </a:r>
            <a:endParaRPr lang="ru-RU" dirty="0"/>
          </a:p>
          <a:p>
            <a:r>
              <a:rPr lang="ru-RU" dirty="0"/>
              <a:t>Мотивация (Почему?):  </a:t>
            </a:r>
          </a:p>
          <a:p>
            <a:pPr marL="0" indent="0">
              <a:buNone/>
            </a:pPr>
            <a:r>
              <a:rPr lang="ru-RU" dirty="0"/>
              <a:t>- Современные сервисы доставки часто предлагают нездоровую пищу или стандартные блюда без учета предпочтений.  </a:t>
            </a:r>
          </a:p>
          <a:p>
            <a:pPr marL="0" indent="0">
              <a:buNone/>
            </a:pPr>
            <a:r>
              <a:rPr lang="ru-RU" dirty="0"/>
              <a:t>- Пользователи хотят удобства, но также заботятся о качестве и пользе еды.  </a:t>
            </a:r>
          </a:p>
          <a:p>
            <a:pPr marL="0" indent="0">
              <a:buNone/>
            </a:pPr>
            <a:r>
              <a:rPr lang="ru-RU" dirty="0"/>
              <a:t>- Растет спрос на персонализированное питание (диеты, аллергии, веганство и т. д.). </a:t>
            </a:r>
          </a:p>
        </p:txBody>
      </p:sp>
    </p:spTree>
    <p:extLst>
      <p:ext uri="{BB962C8B-B14F-4D97-AF65-F5344CB8AC3E}">
        <p14:creationId xmlns:p14="http://schemas.microsoft.com/office/powerpoint/2010/main" val="6281277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A9F65A4-66CE-08ED-0B89-E967DF15C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E633CEF2-97E8-3174-1DC7-C4F63E5C0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85800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Итерация №5. Описание базы данных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FA263E88-F12B-AEDF-1072-42019EE32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000250"/>
            <a:ext cx="9601200" cy="1182897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Для системы доставки еды "</a:t>
            </a:r>
            <a:r>
              <a:rPr lang="ru-RU" dirty="0" err="1"/>
              <a:t>Bunnies</a:t>
            </a:r>
            <a:r>
              <a:rPr lang="ru-RU" dirty="0"/>
              <a:t>" на начальном этапе будет достаточно </a:t>
            </a:r>
            <a:r>
              <a:rPr lang="ru-RU" b="1" dirty="0"/>
              <a:t>одной основной базы данных</a:t>
            </a:r>
            <a:r>
              <a:rPr lang="ru-RU" dirty="0"/>
              <a:t>, которая будет обслуживать все основные операции: управление пользователями, меню, корзинами, заказами и платежами.</a:t>
            </a:r>
            <a:r>
              <a:rPr lang="en-US" dirty="0"/>
              <a:t> </a:t>
            </a:r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0EEE7AC-7DC5-FBA7-85F9-4E1DFEFB641C}"/>
              </a:ext>
            </a:extLst>
          </p:cNvPr>
          <p:cNvSpPr txBox="1"/>
          <p:nvPr/>
        </p:nvSpPr>
        <p:spPr>
          <a:xfrm>
            <a:off x="1371599" y="5248870"/>
            <a:ext cx="883344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491347">
                    <a:alpha val="60000"/>
                  </a:srgbClr>
                </a:solidFill>
              </a:rPr>
              <a:t>Система «</a:t>
            </a:r>
            <a:r>
              <a:rPr lang="ru-RU" dirty="0" err="1">
                <a:solidFill>
                  <a:srgbClr val="491347">
                    <a:alpha val="60000"/>
                  </a:srgbClr>
                </a:solidFill>
              </a:rPr>
              <a:t>Bunnies</a:t>
            </a:r>
            <a:r>
              <a:rPr lang="ru-RU" dirty="0">
                <a:solidFill>
                  <a:srgbClr val="491347">
                    <a:alpha val="60000"/>
                  </a:srgbClr>
                </a:solidFill>
              </a:rPr>
              <a:t>» является монолитным приложением (на текущей стадии проектирования), где все сущности (Пользователи, Меню, Заказы) тесно связаны друг с другом. Разделение на микросервисы (и разные БД) на данном этапе создаст избыточную сложность без реальной необходимости.</a:t>
            </a:r>
          </a:p>
        </p:txBody>
      </p:sp>
    </p:spTree>
    <p:extLst>
      <p:ext uri="{BB962C8B-B14F-4D97-AF65-F5344CB8AC3E}">
        <p14:creationId xmlns:p14="http://schemas.microsoft.com/office/powerpoint/2010/main" val="36457533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EBD416A-81BE-F326-0805-0706AC71D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886248EE-8D5E-422E-41EB-226094EBD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5615796" cy="685800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Итерация №5. Описание базы данных. Технология </a:t>
            </a:r>
            <a:r>
              <a:rPr lang="en-US" sz="2800" b="1" dirty="0" smtClean="0"/>
              <a:t>SQL</a:t>
            </a:r>
            <a:r>
              <a:rPr lang="ru-RU" sz="2800" b="1" dirty="0" smtClean="0"/>
              <a:t> (</a:t>
            </a:r>
            <a:r>
              <a:rPr lang="en-US" sz="2800" b="1" dirty="0" err="1" smtClean="0"/>
              <a:t>Postgre</a:t>
            </a:r>
            <a:r>
              <a:rPr lang="en-US" sz="2800" b="1" dirty="0" smtClean="0"/>
              <a:t> SQL)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1BC9C922-8628-1204-DA76-88962A70AE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922612"/>
            <a:ext cx="4941498" cy="37751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b="1" dirty="0"/>
              <a:t>— Целостность данных</a:t>
            </a:r>
            <a:r>
              <a:rPr lang="ru-RU" sz="1800" dirty="0"/>
              <a:t>: Критически важна для транзакционных данных, таких как заказы (</a:t>
            </a:r>
            <a:r>
              <a:rPr lang="ru-RU" sz="1800" dirty="0" err="1"/>
              <a:t>Order</a:t>
            </a:r>
            <a:r>
              <a:rPr lang="ru-RU" sz="1800" dirty="0"/>
              <a:t>), платежи (</a:t>
            </a:r>
            <a:r>
              <a:rPr lang="ru-RU" sz="1800" dirty="0" err="1"/>
              <a:t>Payment</a:t>
            </a:r>
            <a:r>
              <a:rPr lang="ru-RU" sz="1800" dirty="0"/>
              <a:t>) и запасы (</a:t>
            </a:r>
            <a:r>
              <a:rPr lang="ru-RU" sz="1800" dirty="0" err="1"/>
              <a:t>MenuItem</a:t>
            </a:r>
            <a:r>
              <a:rPr lang="ru-RU" sz="1800" dirty="0"/>
              <a:t>). Реляционные БД обеспечивают строгую гарантию, что платеж и статус заказа будут корректно связаны.</a:t>
            </a:r>
            <a:r>
              <a:rPr lang="en-US" sz="1800" dirty="0"/>
              <a:t> </a:t>
            </a:r>
          </a:p>
          <a:p>
            <a:pPr marL="0" indent="0">
              <a:buNone/>
            </a:pPr>
            <a:r>
              <a:rPr lang="ru-RU" sz="1800" b="1" dirty="0"/>
              <a:t>— Сложные связи</a:t>
            </a:r>
            <a:r>
              <a:rPr lang="ru-RU" sz="1800" dirty="0"/>
              <a:t>: В модели много четко определенных связей, SQL справляется с этими отношениями.</a:t>
            </a:r>
            <a:endParaRPr lang="en-US" sz="1800" dirty="0"/>
          </a:p>
          <a:p>
            <a:pPr marL="0" indent="0">
              <a:buNone/>
            </a:pPr>
            <a:r>
              <a:rPr lang="ru-RU" sz="1800" b="1" dirty="0"/>
              <a:t>— Структура</a:t>
            </a:r>
            <a:r>
              <a:rPr lang="ru-RU" sz="1800" dirty="0"/>
              <a:t>: Данные имеют фиксированную, хорошо известную структуру (например, у User есть </a:t>
            </a:r>
            <a:r>
              <a:rPr lang="ru-RU" sz="1800" dirty="0" err="1"/>
              <a:t>email</a:t>
            </a:r>
            <a:r>
              <a:rPr lang="ru-RU" sz="1800" dirty="0"/>
              <a:t>, </a:t>
            </a:r>
            <a:r>
              <a:rPr lang="ru-RU" sz="1800" dirty="0" err="1"/>
              <a:t>passwordHash</a:t>
            </a:r>
            <a:r>
              <a:rPr lang="ru-RU" sz="1800" dirty="0"/>
              <a:t>, </a:t>
            </a:r>
            <a:r>
              <a:rPr lang="ru-RU" sz="1800" dirty="0" err="1"/>
              <a:t>phone</a:t>
            </a:r>
            <a:r>
              <a:rPr lang="ru-RU" sz="1800" dirty="0"/>
              <a:t>), что идеально подходит для табличной организации SQL.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8C1F4DDD-6DBB-6886-AFFA-37CA23E73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1" y="685800"/>
            <a:ext cx="4366764" cy="5638763"/>
          </a:xfrm>
          <a:prstGeom prst="roundRect">
            <a:avLst>
              <a:gd name="adj" fmla="val 6305"/>
            </a:avLst>
          </a:prstGeom>
        </p:spPr>
      </p:pic>
    </p:spTree>
    <p:extLst>
      <p:ext uri="{BB962C8B-B14F-4D97-AF65-F5344CB8AC3E}">
        <p14:creationId xmlns:p14="http://schemas.microsoft.com/office/powerpoint/2010/main" val="35207802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462F102-91C4-9A90-9233-74EE1D863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63E82AB-0C46-C47C-967D-1AFC3623A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5615796" cy="685800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Итерация №5. Структура БД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A48C911-1DC1-3516-EFBC-6B842FE37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71601"/>
            <a:ext cx="9401355" cy="7850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Схема базы данных будет напрямую основываться на </a:t>
            </a:r>
            <a:r>
              <a:rPr lang="ru-RU" b="1" dirty="0"/>
              <a:t>Уточненной проектной модели классов</a:t>
            </a:r>
            <a:r>
              <a:rPr lang="ru-RU" dirty="0"/>
              <a:t>, используя внешние ключи для реализации отношений.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1A648492-807D-D467-F449-C813827F8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736" y="2400300"/>
            <a:ext cx="9852942" cy="2924218"/>
          </a:xfrm>
          <a:prstGeom prst="roundRect">
            <a:avLst>
              <a:gd name="adj" fmla="val 7414"/>
            </a:avLst>
          </a:prstGeom>
        </p:spPr>
      </p:pic>
      <p:sp>
        <p:nvSpPr>
          <p:cNvPr id="4" name="Прямоугольник 3"/>
          <p:cNvSpPr/>
          <p:nvPr/>
        </p:nvSpPr>
        <p:spPr>
          <a:xfrm>
            <a:off x="5421777" y="5498068"/>
            <a:ext cx="17828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ERD</a:t>
            </a:r>
            <a:r>
              <a:rPr lang="ru-RU" dirty="0" smtClean="0"/>
              <a:t>-диаграмма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095803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462F102-91C4-9A90-9233-74EE1D8638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63E82AB-0C46-C47C-967D-1AFC3623A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5615796" cy="685800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Итерация №5. </a:t>
            </a:r>
            <a:r>
              <a:rPr lang="ru-RU" sz="2800" b="1" dirty="0" smtClean="0"/>
              <a:t>Проектирование БД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2A48C911-1DC1-3516-EFBC-6B842FE372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371601"/>
            <a:ext cx="9401355" cy="78500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Схема базы данных будет напрямую основываться на </a:t>
            </a:r>
            <a:r>
              <a:rPr lang="ru-RU" b="1" dirty="0"/>
              <a:t>Уточненной проектной модели классов</a:t>
            </a:r>
            <a:r>
              <a:rPr lang="ru-RU" dirty="0"/>
              <a:t>, используя внешние ключи для реализации отношений.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xmlns="" id="{1A648492-807D-D467-F449-C813827F8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6736" y="2400299"/>
            <a:ext cx="9931574" cy="2947555"/>
          </a:xfrm>
          <a:prstGeom prst="roundRect">
            <a:avLst>
              <a:gd name="adj" fmla="val 7414"/>
            </a:avLst>
          </a:prstGeom>
        </p:spPr>
      </p:pic>
      <p:sp>
        <p:nvSpPr>
          <p:cNvPr id="4" name="Прямоугольник 3"/>
          <p:cNvSpPr/>
          <p:nvPr/>
        </p:nvSpPr>
        <p:spPr>
          <a:xfrm>
            <a:off x="5421777" y="5498067"/>
            <a:ext cx="17596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ERD</a:t>
            </a:r>
            <a:r>
              <a:rPr lang="ru-RU" dirty="0" smtClean="0"/>
              <a:t>-диаграмма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96189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E254A55-9E8B-4F9D-4FA5-315A1434EE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F2130F56-B1D5-D552-36AF-7F241FDCD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5615796" cy="685800"/>
          </a:xfrm>
        </p:spPr>
        <p:txBody>
          <a:bodyPr>
            <a:normAutofit fontScale="90000"/>
          </a:bodyPr>
          <a:lstStyle/>
          <a:p>
            <a:r>
              <a:rPr lang="ru-RU" sz="2800" b="1" dirty="0"/>
              <a:t>Итерация №5. Внесение данных</a:t>
            </a:r>
            <a:r>
              <a:rPr lang="ru-RU" b="1" dirty="0"/>
              <a:t/>
            </a:r>
            <a:br>
              <a:rPr lang="ru-RU" b="1" dirty="0"/>
            </a:b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xmlns="" id="{E1305E07-40E5-ACB6-E151-94F70D3CF0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38581" y="5661891"/>
            <a:ext cx="1787237" cy="4110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600" dirty="0" smtClean="0"/>
              <a:t>Созданная БД</a:t>
            </a:r>
            <a:endParaRPr lang="ru-RU" sz="16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2713609"/>
            <a:ext cx="4283531" cy="2766187"/>
          </a:xfrm>
          <a:prstGeom prst="roundRect">
            <a:avLst>
              <a:gd name="adj" fmla="val 5648"/>
            </a:avLst>
          </a:prstGeom>
        </p:spPr>
      </p:pic>
      <p:sp>
        <p:nvSpPr>
          <p:cNvPr id="5" name="Объект 2">
            <a:extLst>
              <a:ext uri="{FF2B5EF4-FFF2-40B4-BE49-F238E27FC236}">
                <a16:creationId xmlns:a16="http://schemas.microsoft.com/office/drawing/2014/main" xmlns="" id="{E1305E07-40E5-ACB6-E151-94F70D3CF091}"/>
              </a:ext>
            </a:extLst>
          </p:cNvPr>
          <p:cNvSpPr txBox="1">
            <a:spLocks/>
          </p:cNvSpPr>
          <p:nvPr/>
        </p:nvSpPr>
        <p:spPr>
          <a:xfrm>
            <a:off x="1524000" y="1524001"/>
            <a:ext cx="4245431" cy="785004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ranklin Gothic Book" panose="020B0503020102020204" pitchFamily="34" charset="0"/>
              <a:buNone/>
            </a:pPr>
            <a:r>
              <a:rPr lang="ru-RU" dirty="0"/>
              <a:t>Проверим работоспособность БД, добавив данные для сценариев «Регистрация» и «Создание заказа».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xmlns="" id="{E1305E07-40E5-ACB6-E151-94F70D3CF091}"/>
              </a:ext>
            </a:extLst>
          </p:cNvPr>
          <p:cNvSpPr txBox="1">
            <a:spLocks/>
          </p:cNvSpPr>
          <p:nvPr/>
        </p:nvSpPr>
        <p:spPr>
          <a:xfrm>
            <a:off x="7897090" y="5661891"/>
            <a:ext cx="2133600" cy="411018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ranklin Gothic Book" panose="020B0503020102020204" pitchFamily="34" charset="0"/>
              <a:buNone/>
            </a:pPr>
            <a:r>
              <a:rPr lang="ru-RU" sz="1600" dirty="0" smtClean="0"/>
              <a:t>Внесение данных в БД</a:t>
            </a:r>
            <a:endParaRPr lang="ru-RU" sz="1600" dirty="0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2714" y="2171700"/>
            <a:ext cx="5308270" cy="3343834"/>
          </a:xfrm>
          <a:prstGeom prst="roundRect">
            <a:avLst>
              <a:gd name="adj" fmla="val 5618"/>
            </a:avLst>
          </a:prstGeom>
        </p:spPr>
      </p:pic>
    </p:spTree>
    <p:extLst>
      <p:ext uri="{BB962C8B-B14F-4D97-AF65-F5344CB8AC3E}">
        <p14:creationId xmlns:p14="http://schemas.microsoft.com/office/powerpoint/2010/main" val="41609082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6AF17BE-EA29-820E-069B-EA55726A01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C48FA4C7-FBEE-A66C-3166-9028B97B0B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10015268" cy="685800"/>
          </a:xfrm>
        </p:spPr>
        <p:txBody>
          <a:bodyPr>
            <a:normAutofit/>
          </a:bodyPr>
          <a:lstStyle/>
          <a:p>
            <a:r>
              <a:rPr lang="ru-RU" sz="2800" b="1" dirty="0"/>
              <a:t>Итерация №5. Запрос 1. </a:t>
            </a:r>
            <a:r>
              <a:rPr lang="ru-RU" sz="2800" b="1" dirty="0" smtClean="0"/>
              <a:t>История заказов Анны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874721"/>
            <a:ext cx="6115627" cy="3235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317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C5E5B2D-68E1-6DF0-5A78-54E0D4B59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BA41A640-5EF7-7E16-ADF5-5D2CCB6B39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685800"/>
            <a:ext cx="9859992" cy="685800"/>
          </a:xfrm>
        </p:spPr>
        <p:txBody>
          <a:bodyPr>
            <a:normAutofit/>
          </a:bodyPr>
          <a:lstStyle/>
          <a:p>
            <a:r>
              <a:rPr lang="ru-RU" sz="2800" b="1" dirty="0"/>
              <a:t>Итерация №5. Запрос </a:t>
            </a:r>
            <a:r>
              <a:rPr lang="ru-RU" sz="2800" b="1" dirty="0" smtClean="0"/>
              <a:t>2. </a:t>
            </a:r>
            <a:r>
              <a:rPr lang="ru-RU" sz="2800" b="1" dirty="0" smtClean="0"/>
              <a:t>Получение </a:t>
            </a:r>
            <a:r>
              <a:rPr lang="ru-RU" sz="2800" b="1" smtClean="0"/>
              <a:t>списка блюд</a:t>
            </a:r>
            <a:endParaRPr lang="ru-RU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500" y="2571929"/>
            <a:ext cx="7104192" cy="2775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3280397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Другая 4">
      <a:dk1>
        <a:sysClr val="windowText" lastClr="000000"/>
      </a:dk1>
      <a:lt1>
        <a:sysClr val="window" lastClr="FFFFFF"/>
      </a:lt1>
      <a:dk2>
        <a:srgbClr val="491347"/>
      </a:dk2>
      <a:lt2>
        <a:srgbClr val="EAE5EB"/>
      </a:lt2>
      <a:accent1>
        <a:srgbClr val="92278F"/>
      </a:accent1>
      <a:accent2>
        <a:srgbClr val="D565D2"/>
      </a:accent2>
      <a:accent3>
        <a:srgbClr val="D565D2"/>
      </a:accent3>
      <a:accent4>
        <a:srgbClr val="D565D2"/>
      </a:accent4>
      <a:accent5>
        <a:srgbClr val="E398E1"/>
      </a:accent5>
      <a:accent6>
        <a:srgbClr val="F1CBF0"/>
      </a:accent6>
      <a:hlink>
        <a:srgbClr val="92278F"/>
      </a:hlink>
      <a:folHlink>
        <a:srgbClr val="6666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603</TotalTime>
  <Words>452</Words>
  <Application>Microsoft Office PowerPoint</Application>
  <PresentationFormat>Широкоэкранный</PresentationFormat>
  <Paragraphs>30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Calibri</vt:lpstr>
      <vt:lpstr>Franklin Gothic Book</vt:lpstr>
      <vt:lpstr>Times New Roman</vt:lpstr>
      <vt:lpstr>Crop</vt:lpstr>
      <vt:lpstr>Система доставки еды «Bunnies»</vt:lpstr>
      <vt:lpstr>Bunnies – сервис быстрой и удобной доставки еды с акцентом на здоровое питание и персонализацию. </vt:lpstr>
      <vt:lpstr>Итерация №5. Описание базы данных </vt:lpstr>
      <vt:lpstr>Итерация №5. Описание базы данных. Технология SQL (Postgre SQL) </vt:lpstr>
      <vt:lpstr>Итерация №5. Структура БД </vt:lpstr>
      <vt:lpstr>Итерация №5. Проектирование БД </vt:lpstr>
      <vt:lpstr>Итерация №5. Внесение данных </vt:lpstr>
      <vt:lpstr>Итерация №5. Запрос 1. История заказов Анны</vt:lpstr>
      <vt:lpstr>Итерация №5. Запрос 2. Получение списка блюд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Система доставки еды «Two Bunnies»</dc:title>
  <dc:creator>Настя</dc:creator>
  <cp:lastModifiedBy>Учетная запись Майкрософт</cp:lastModifiedBy>
  <cp:revision>40</cp:revision>
  <dcterms:created xsi:type="dcterms:W3CDTF">2022-10-19T15:48:45Z</dcterms:created>
  <dcterms:modified xsi:type="dcterms:W3CDTF">2025-12-02T20:10:20Z</dcterms:modified>
</cp:coreProperties>
</file>