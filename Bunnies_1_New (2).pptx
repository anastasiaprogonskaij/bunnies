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9"/>
  </p:notesMasterIdLst>
  <p:sldIdLst>
    <p:sldId id="256" r:id="rId2"/>
    <p:sldId id="288" r:id="rId3"/>
    <p:sldId id="289" r:id="rId4"/>
    <p:sldId id="277" r:id="rId5"/>
    <p:sldId id="300" r:id="rId6"/>
    <p:sldId id="302" r:id="rId7"/>
    <p:sldId id="301"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182" autoAdjust="0"/>
    <p:restoredTop sz="94431" autoAdjust="0"/>
  </p:normalViewPr>
  <p:slideViewPr>
    <p:cSldViewPr snapToGrid="0">
      <p:cViewPr varScale="1">
        <p:scale>
          <a:sx n="109" d="100"/>
          <a:sy n="109" d="100"/>
        </p:scale>
        <p:origin x="48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36D596-4345-41F1-8C33-D5FFDBDA09DB}" type="datetimeFigureOut">
              <a:rPr lang="ru-RU" smtClean="0"/>
              <a:t>14.10.2025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9DD474-E2D3-4DE7-93E1-AAA5D2846E49}" type="slidenum">
              <a:rPr lang="ru-RU" smtClean="0"/>
              <a:t>‹#›</a:t>
            </a:fld>
            <a:endParaRPr lang="ru-RU"/>
          </a:p>
        </p:txBody>
      </p:sp>
    </p:spTree>
    <p:extLst>
      <p:ext uri="{BB962C8B-B14F-4D97-AF65-F5344CB8AC3E}">
        <p14:creationId xmlns:p14="http://schemas.microsoft.com/office/powerpoint/2010/main" val="716763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ru-RU"/>
              <a:t>Образец заголовка</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5F01B63F-C133-4857-92A2-47A83411716A}" type="datetimeFigureOut">
              <a:rPr lang="ru-RU" smtClean="0"/>
              <a:t>14.10.2025</a:t>
            </a:fld>
            <a:endParaRPr lang="ru-RU"/>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ru-RU"/>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DB2EAD10-6C96-400C-A593-45909D4B4BAC}" type="slidenum">
              <a:rPr lang="ru-RU" smtClean="0"/>
              <a:t>‹#›</a:t>
            </a:fld>
            <a:endParaRPr lang="ru-RU"/>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129207810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F01B63F-C133-4857-92A2-47A83411716A}" type="datetimeFigureOut">
              <a:rPr lang="ru-RU" smtClean="0"/>
              <a:t>14.10.2025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DB2EAD10-6C96-400C-A593-45909D4B4BAC}" type="slidenum">
              <a:rPr lang="ru-RU" smtClean="0"/>
              <a:t>‹#›</a:t>
            </a:fld>
            <a:endParaRPr lang="ru-RU"/>
          </a:p>
        </p:txBody>
      </p:sp>
    </p:spTree>
    <p:extLst>
      <p:ext uri="{BB962C8B-B14F-4D97-AF65-F5344CB8AC3E}">
        <p14:creationId xmlns:p14="http://schemas.microsoft.com/office/powerpoint/2010/main" val="29498365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ru-RU"/>
              <a:t>Образец заголовка</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5F01B63F-C133-4857-92A2-47A83411716A}" type="datetimeFigureOut">
              <a:rPr lang="ru-RU" smtClean="0"/>
              <a:t>14.10.2025</a:t>
            </a:fld>
            <a:endParaRPr lang="ru-RU"/>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ru-RU"/>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DB2EAD10-6C96-400C-A593-45909D4B4BAC}" type="slidenum">
              <a:rPr lang="ru-RU" smtClean="0"/>
              <a:t>‹#›</a:t>
            </a:fld>
            <a:endParaRPr lang="ru-RU"/>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207987720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ru-RU"/>
              <a:t>Образец заголовка</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5F01B63F-C133-4857-92A2-47A83411716A}" type="datetimeFigureOut">
              <a:rPr lang="ru-RU" smtClean="0"/>
              <a:t>14.10.2025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DB2EAD10-6C96-400C-A593-45909D4B4BAC}" type="slidenum">
              <a:rPr lang="ru-RU" smtClean="0"/>
              <a:t>‹#›</a:t>
            </a:fld>
            <a:endParaRPr lang="ru-RU"/>
          </a:p>
        </p:txBody>
      </p:sp>
    </p:spTree>
    <p:extLst>
      <p:ext uri="{BB962C8B-B14F-4D97-AF65-F5344CB8AC3E}">
        <p14:creationId xmlns:p14="http://schemas.microsoft.com/office/powerpoint/2010/main" val="361047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ru-RU"/>
              <a:t>Образец заголовка</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5F01B63F-C133-4857-92A2-47A83411716A}" type="datetimeFigureOut">
              <a:rPr lang="ru-RU" smtClean="0"/>
              <a:t>14.10.2025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DB2EAD10-6C96-400C-A593-45909D4B4BAC}" type="slidenum">
              <a:rPr lang="ru-RU" smtClean="0"/>
              <a:t>‹#›</a:t>
            </a:fld>
            <a:endParaRPr lang="ru-RU"/>
          </a:p>
        </p:txBody>
      </p:sp>
    </p:spTree>
    <p:extLst>
      <p:ext uri="{BB962C8B-B14F-4D97-AF65-F5344CB8AC3E}">
        <p14:creationId xmlns:p14="http://schemas.microsoft.com/office/powerpoint/2010/main" val="20754217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5F01B63F-C133-4857-92A2-47A83411716A}" type="datetimeFigureOut">
              <a:rPr lang="ru-RU" smtClean="0"/>
              <a:t>14.10.2025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DB2EAD10-6C96-400C-A593-45909D4B4BAC}" type="slidenum">
              <a:rPr lang="ru-RU" smtClean="0"/>
              <a:t>‹#›</a:t>
            </a:fld>
            <a:endParaRPr lang="ru-RU"/>
          </a:p>
        </p:txBody>
      </p:sp>
    </p:spTree>
    <p:extLst>
      <p:ext uri="{BB962C8B-B14F-4D97-AF65-F5344CB8AC3E}">
        <p14:creationId xmlns:p14="http://schemas.microsoft.com/office/powerpoint/2010/main" val="2990178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01B63F-C133-4857-92A2-47A83411716A}" type="datetimeFigureOut">
              <a:rPr lang="ru-RU" smtClean="0"/>
              <a:t>14.10.2025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DB2EAD10-6C96-400C-A593-45909D4B4BAC}" type="slidenum">
              <a:rPr lang="ru-RU" smtClean="0"/>
              <a:t>‹#›</a:t>
            </a:fld>
            <a:endParaRPr lang="ru-RU"/>
          </a:p>
        </p:txBody>
      </p:sp>
    </p:spTree>
    <p:extLst>
      <p:ext uri="{BB962C8B-B14F-4D97-AF65-F5344CB8AC3E}">
        <p14:creationId xmlns:p14="http://schemas.microsoft.com/office/powerpoint/2010/main" val="1868982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ru-RU"/>
              <a:t>Образец заголовка</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5F01B63F-C133-4857-92A2-47A83411716A}" type="datetimeFigureOut">
              <a:rPr lang="ru-RU" smtClean="0"/>
              <a:t>14.10.2025</a:t>
            </a:fld>
            <a:endParaRPr lang="ru-RU"/>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ru-RU"/>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DB2EAD10-6C96-400C-A593-45909D4B4BAC}" type="slidenum">
              <a:rPr lang="ru-RU" smtClean="0"/>
              <a:t>‹#›</a:t>
            </a:fld>
            <a:endParaRPr lang="ru-RU"/>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933178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5F01B63F-C133-4857-92A2-47A83411716A}" type="datetimeFigureOut">
              <a:rPr lang="ru-RU" smtClean="0"/>
              <a:t>14.10.2025</a:t>
            </a:fld>
            <a:endParaRPr lang="ru-RU"/>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ru-RU"/>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DB2EAD10-6C96-400C-A593-45909D4B4BAC}" type="slidenum">
              <a:rPr lang="ru-RU" smtClean="0"/>
              <a:t>‹#›</a:t>
            </a:fld>
            <a:endParaRPr lang="ru-RU"/>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464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F01B63F-C133-4857-92A2-47A83411716A}" type="datetimeFigureOut">
              <a:rPr lang="ru-RU" smtClean="0"/>
              <a:t>14.10.2025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DB2EAD10-6C96-400C-A593-45909D4B4BAC}" type="slidenum">
              <a:rPr lang="ru-RU" smtClean="0"/>
              <a:t>‹#›</a:t>
            </a:fld>
            <a:endParaRPr lang="ru-RU"/>
          </a:p>
        </p:txBody>
      </p:sp>
    </p:spTree>
    <p:extLst>
      <p:ext uri="{BB962C8B-B14F-4D97-AF65-F5344CB8AC3E}">
        <p14:creationId xmlns:p14="http://schemas.microsoft.com/office/powerpoint/2010/main" val="2778408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F01B63F-C133-4857-92A2-47A83411716A}" type="datetimeFigureOut">
              <a:rPr lang="ru-RU" smtClean="0"/>
              <a:t>14.10.2025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DB2EAD10-6C96-400C-A593-45909D4B4BAC}" type="slidenum">
              <a:rPr lang="ru-RU" smtClean="0"/>
              <a:t>‹#›</a:t>
            </a:fld>
            <a:endParaRPr lang="ru-RU"/>
          </a:p>
        </p:txBody>
      </p:sp>
    </p:spTree>
    <p:extLst>
      <p:ext uri="{BB962C8B-B14F-4D97-AF65-F5344CB8AC3E}">
        <p14:creationId xmlns:p14="http://schemas.microsoft.com/office/powerpoint/2010/main" val="2984158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ru-RU"/>
              <a:t>Образец заголовка</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5F01B63F-C133-4857-92A2-47A83411716A}" type="datetimeFigureOut">
              <a:rPr lang="ru-RU" smtClean="0"/>
              <a:t>14.10.2025</a:t>
            </a:fld>
            <a:endParaRPr lang="ru-RU"/>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ru-RU"/>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DB2EAD10-6C96-400C-A593-45909D4B4BAC}" type="slidenum">
              <a:rPr lang="ru-RU" smtClean="0"/>
              <a:t>‹#›</a:t>
            </a:fld>
            <a:endParaRPr lang="ru-RU"/>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702470793"/>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218BAB7-826C-3B11-C203-0276B18CC0CD}"/>
              </a:ext>
            </a:extLst>
          </p:cNvPr>
          <p:cNvSpPr>
            <a:spLocks noGrp="1"/>
          </p:cNvSpPr>
          <p:nvPr>
            <p:ph type="ctrTitle"/>
          </p:nvPr>
        </p:nvSpPr>
        <p:spPr>
          <a:xfrm>
            <a:off x="1950297" y="2043431"/>
            <a:ext cx="8361229" cy="2098226"/>
          </a:xfrm>
        </p:spPr>
        <p:txBody>
          <a:bodyPr/>
          <a:lstStyle/>
          <a:p>
            <a:r>
              <a:rPr lang="ru-RU" dirty="0"/>
              <a:t>Система доставки еды</a:t>
            </a:r>
            <a:br>
              <a:rPr lang="ru-RU" dirty="0"/>
            </a:br>
            <a:r>
              <a:rPr lang="ru-RU" dirty="0"/>
              <a:t>«</a:t>
            </a:r>
            <a:r>
              <a:rPr lang="en-US" dirty="0"/>
              <a:t>Bunnies</a:t>
            </a:r>
            <a:r>
              <a:rPr lang="ru-RU" dirty="0"/>
              <a:t>»</a:t>
            </a:r>
          </a:p>
        </p:txBody>
      </p:sp>
      <p:sp>
        <p:nvSpPr>
          <p:cNvPr id="3" name="Подзаголовок 2">
            <a:extLst>
              <a:ext uri="{FF2B5EF4-FFF2-40B4-BE49-F238E27FC236}">
                <a16:creationId xmlns:a16="http://schemas.microsoft.com/office/drawing/2014/main" id="{1623D058-528A-C959-C72C-57D414F5BA48}"/>
              </a:ext>
            </a:extLst>
          </p:cNvPr>
          <p:cNvSpPr>
            <a:spLocks noGrp="1"/>
          </p:cNvSpPr>
          <p:nvPr>
            <p:ph type="subTitle" idx="1"/>
          </p:nvPr>
        </p:nvSpPr>
        <p:spPr>
          <a:xfrm>
            <a:off x="7117237" y="4141657"/>
            <a:ext cx="4478987" cy="1655762"/>
          </a:xfrm>
        </p:spPr>
        <p:txBody>
          <a:bodyPr>
            <a:normAutofit/>
          </a:bodyPr>
          <a:lstStyle/>
          <a:p>
            <a:pPr algn="l"/>
            <a:r>
              <a:rPr lang="ru-RU" dirty="0"/>
              <a:t>Выполнили: </a:t>
            </a:r>
          </a:p>
          <a:p>
            <a:pPr algn="l"/>
            <a:r>
              <a:rPr lang="ru-RU" dirty="0" err="1"/>
              <a:t>Прогонская</a:t>
            </a:r>
            <a:r>
              <a:rPr lang="ru-RU" dirty="0"/>
              <a:t> Анастасия,</a:t>
            </a:r>
          </a:p>
          <a:p>
            <a:pPr algn="l"/>
            <a:r>
              <a:rPr lang="ru-RU" dirty="0" smtClean="0"/>
              <a:t>Кубышева Полина</a:t>
            </a:r>
          </a:p>
          <a:p>
            <a:pPr algn="l"/>
            <a:endParaRPr lang="ru-RU" dirty="0"/>
          </a:p>
        </p:txBody>
      </p:sp>
    </p:spTree>
    <p:extLst>
      <p:ext uri="{BB962C8B-B14F-4D97-AF65-F5344CB8AC3E}">
        <p14:creationId xmlns:p14="http://schemas.microsoft.com/office/powerpoint/2010/main" val="2713202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4BCB4DB-CAEC-3417-E6AE-04F86ADEA66E}"/>
              </a:ext>
            </a:extLst>
          </p:cNvPr>
          <p:cNvSpPr>
            <a:spLocks noGrp="1"/>
          </p:cNvSpPr>
          <p:nvPr>
            <p:ph type="title"/>
          </p:nvPr>
        </p:nvSpPr>
        <p:spPr>
          <a:xfrm>
            <a:off x="1159497" y="685800"/>
            <a:ext cx="9813303" cy="1350390"/>
          </a:xfrm>
        </p:spPr>
        <p:txBody>
          <a:bodyPr>
            <a:normAutofit/>
          </a:bodyPr>
          <a:lstStyle/>
          <a:p>
            <a:pPr algn="ctr"/>
            <a:r>
              <a:rPr lang="ru-RU" sz="2400" dirty="0" err="1"/>
              <a:t>Bunnies</a:t>
            </a:r>
            <a:r>
              <a:rPr lang="ru-RU" sz="2400" dirty="0"/>
              <a:t> – сервис быстрой и удобной доставки еды с акцентом на здоровое питание и персонализацию. </a:t>
            </a:r>
          </a:p>
        </p:txBody>
      </p:sp>
      <p:sp>
        <p:nvSpPr>
          <p:cNvPr id="3" name="Объект 2">
            <a:extLst>
              <a:ext uri="{FF2B5EF4-FFF2-40B4-BE49-F238E27FC236}">
                <a16:creationId xmlns:a16="http://schemas.microsoft.com/office/drawing/2014/main" id="{43C4638D-4252-9D07-5C07-2E7BCB4CD863}"/>
              </a:ext>
            </a:extLst>
          </p:cNvPr>
          <p:cNvSpPr>
            <a:spLocks noGrp="1"/>
          </p:cNvSpPr>
          <p:nvPr>
            <p:ph idx="1"/>
          </p:nvPr>
        </p:nvSpPr>
        <p:spPr>
          <a:xfrm>
            <a:off x="1555423" y="2036190"/>
            <a:ext cx="9737889" cy="3886200"/>
          </a:xfrm>
        </p:spPr>
        <p:txBody>
          <a:bodyPr>
            <a:normAutofit/>
          </a:bodyPr>
          <a:lstStyle/>
          <a:p>
            <a:pPr marL="0" indent="0">
              <a:buNone/>
            </a:pPr>
            <a:r>
              <a:rPr lang="ru-RU" dirty="0"/>
              <a:t>Назначение:  </a:t>
            </a:r>
          </a:p>
          <a:p>
            <a:r>
              <a:rPr lang="ru-RU" dirty="0"/>
              <a:t>Онлайн-платформа и мобильное приложение для заказа здоровой, свежей и вкусной еды с быстрой доставкой.  </a:t>
            </a:r>
          </a:p>
          <a:p>
            <a:r>
              <a:rPr lang="ru-RU" dirty="0"/>
              <a:t>Мотивация (Почему?):  </a:t>
            </a:r>
          </a:p>
          <a:p>
            <a:pPr marL="0" indent="0">
              <a:buNone/>
            </a:pPr>
            <a:r>
              <a:rPr lang="ru-RU" dirty="0"/>
              <a:t>- Современные сервисы доставки часто предлагают нездоровую пищу или стандартные блюда без учета предпочтений.  </a:t>
            </a:r>
          </a:p>
          <a:p>
            <a:pPr marL="0" indent="0">
              <a:buNone/>
            </a:pPr>
            <a:r>
              <a:rPr lang="ru-RU" dirty="0"/>
              <a:t>- Пользователи хотят удобства, но также заботятся о качестве и пользе еды.  </a:t>
            </a:r>
          </a:p>
          <a:p>
            <a:pPr marL="0" indent="0">
              <a:buNone/>
            </a:pPr>
            <a:r>
              <a:rPr lang="ru-RU" dirty="0"/>
              <a:t>- Растет спрос на персонализированное питание (диеты, аллергии, веганство и т. д.). </a:t>
            </a:r>
          </a:p>
        </p:txBody>
      </p:sp>
    </p:spTree>
    <p:extLst>
      <p:ext uri="{BB962C8B-B14F-4D97-AF65-F5344CB8AC3E}">
        <p14:creationId xmlns:p14="http://schemas.microsoft.com/office/powerpoint/2010/main" val="1054607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C85A1-3397-39DB-5606-B7F6381CE48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8899807-FF02-D503-21C1-DE55266553F5}"/>
              </a:ext>
            </a:extLst>
          </p:cNvPr>
          <p:cNvSpPr>
            <a:spLocks noGrp="1"/>
          </p:cNvSpPr>
          <p:nvPr>
            <p:ph type="title"/>
          </p:nvPr>
        </p:nvSpPr>
        <p:spPr>
          <a:xfrm>
            <a:off x="1159497" y="685800"/>
            <a:ext cx="9813303" cy="1350390"/>
          </a:xfrm>
        </p:spPr>
        <p:txBody>
          <a:bodyPr>
            <a:normAutofit/>
          </a:bodyPr>
          <a:lstStyle/>
          <a:p>
            <a:pPr algn="ctr"/>
            <a:r>
              <a:rPr lang="ru-RU" sz="2400" dirty="0" err="1"/>
              <a:t>Bunnies</a:t>
            </a:r>
            <a:r>
              <a:rPr lang="ru-RU" sz="2400" dirty="0"/>
              <a:t> – сервис быстрой и удобной доставки еды с акцентом на здоровое питание и персонализацию. </a:t>
            </a:r>
          </a:p>
        </p:txBody>
      </p:sp>
      <p:sp>
        <p:nvSpPr>
          <p:cNvPr id="3" name="Объект 2">
            <a:extLst>
              <a:ext uri="{FF2B5EF4-FFF2-40B4-BE49-F238E27FC236}">
                <a16:creationId xmlns:a16="http://schemas.microsoft.com/office/drawing/2014/main" id="{5BE53B49-714E-9DD7-A710-B43EBC05C960}"/>
              </a:ext>
            </a:extLst>
          </p:cNvPr>
          <p:cNvSpPr>
            <a:spLocks noGrp="1"/>
          </p:cNvSpPr>
          <p:nvPr>
            <p:ph idx="1"/>
          </p:nvPr>
        </p:nvSpPr>
        <p:spPr>
          <a:xfrm>
            <a:off x="1555423" y="2036190"/>
            <a:ext cx="9737889" cy="3886200"/>
          </a:xfrm>
        </p:spPr>
        <p:txBody>
          <a:bodyPr>
            <a:normAutofit fontScale="92500" lnSpcReduction="10000"/>
          </a:bodyPr>
          <a:lstStyle/>
          <a:p>
            <a:pPr marL="0" indent="0">
              <a:buNone/>
            </a:pPr>
            <a:r>
              <a:rPr lang="ru-RU" dirty="0"/>
              <a:t>Назначение:  </a:t>
            </a:r>
          </a:p>
          <a:p>
            <a:r>
              <a:rPr lang="ru-RU" sz="2000" dirty="0">
                <a:effectLst/>
                <a:latin typeface="Calibri" panose="020F0502020204030204" pitchFamily="34" charset="0"/>
                <a:ea typeface="Calibri" panose="020F0502020204030204" pitchFamily="34" charset="0"/>
                <a:cs typeface="Times New Roman" panose="02020603050405020304" pitchFamily="18" charset="0"/>
              </a:rPr>
              <a:t>Для клиентов, желающих заказать еду в ресторане «Аппетит» через Интернет, система доставки еды «</a:t>
            </a:r>
            <a:r>
              <a:rPr lang="en-US" sz="2000" dirty="0">
                <a:effectLst/>
                <a:latin typeface="Calibri" panose="020F0502020204030204" pitchFamily="34" charset="0"/>
                <a:ea typeface="Calibri" panose="020F0502020204030204" pitchFamily="34" charset="0"/>
                <a:cs typeface="Times New Roman" panose="02020603050405020304" pitchFamily="18" charset="0"/>
              </a:rPr>
              <a:t>Bunnies</a:t>
            </a:r>
            <a:r>
              <a:rPr lang="ru-RU" sz="2000" dirty="0">
                <a:effectLst/>
                <a:latin typeface="Calibri" panose="020F0502020204030204" pitchFamily="34" charset="0"/>
                <a:ea typeface="Calibri" panose="020F0502020204030204" pitchFamily="34" charset="0"/>
                <a:cs typeface="Times New Roman" panose="02020603050405020304" pitchFamily="18" charset="0"/>
              </a:rPr>
              <a:t>»— это интернет-приложение или приложение для смартфона, которое принимает заказы, взимает оплату и инициирует доставку готовых блюд к указанному пункту на территории Иваново. Клиенты, использующие «</a:t>
            </a:r>
            <a:r>
              <a:rPr lang="en-US" sz="2000" dirty="0">
                <a:effectLst/>
                <a:latin typeface="Calibri" panose="020F0502020204030204" pitchFamily="34" charset="0"/>
                <a:ea typeface="Calibri" panose="020F0502020204030204" pitchFamily="34" charset="0"/>
                <a:cs typeface="Times New Roman" panose="02020603050405020304" pitchFamily="18" charset="0"/>
              </a:rPr>
              <a:t>Bunnies</a:t>
            </a:r>
            <a:r>
              <a:rPr lang="ru-RU" sz="2000" dirty="0">
                <a:effectLst/>
                <a:latin typeface="Calibri" panose="020F0502020204030204" pitchFamily="34" charset="0"/>
                <a:ea typeface="Calibri" panose="020F0502020204030204" pitchFamily="34" charset="0"/>
                <a:cs typeface="Times New Roman" panose="02020603050405020304" pitchFamily="18" charset="0"/>
              </a:rPr>
              <a:t>», смогут быстро и удобно получить свой заказ, а сотрудники повысят эффективность работы за счет автоматизации процессов обработки и доставки заказов.</a:t>
            </a:r>
            <a:endParaRPr lang="ru-RU" dirty="0"/>
          </a:p>
          <a:p>
            <a:r>
              <a:rPr lang="ru-RU" dirty="0"/>
              <a:t>Мотивация (Почему?):  </a:t>
            </a:r>
          </a:p>
          <a:p>
            <a:pPr marL="0" indent="0">
              <a:buNone/>
            </a:pPr>
            <a:r>
              <a:rPr lang="ru-RU" dirty="0"/>
              <a:t>- Современные сервисы доставки часто предлагают нездоровую пищу или стандартные блюда без учета предпочтений.  </a:t>
            </a:r>
          </a:p>
          <a:p>
            <a:pPr marL="0" indent="0">
              <a:buNone/>
            </a:pPr>
            <a:r>
              <a:rPr lang="ru-RU" dirty="0"/>
              <a:t>- Пользователи хотят удобства, но также заботятся о качестве и пользе еды.  </a:t>
            </a:r>
          </a:p>
          <a:p>
            <a:pPr marL="0" indent="0">
              <a:buNone/>
            </a:pPr>
            <a:r>
              <a:rPr lang="ru-RU" dirty="0"/>
              <a:t>- Растет спрос на персонализированное питание (диеты, аллергии, веганство и т. д.). </a:t>
            </a:r>
          </a:p>
        </p:txBody>
      </p:sp>
    </p:spTree>
    <p:extLst>
      <p:ext uri="{BB962C8B-B14F-4D97-AF65-F5344CB8AC3E}">
        <p14:creationId xmlns:p14="http://schemas.microsoft.com/office/powerpoint/2010/main" val="628127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71600" y="157480"/>
            <a:ext cx="9601200" cy="1485900"/>
          </a:xfrm>
        </p:spPr>
        <p:txBody>
          <a:bodyPr/>
          <a:lstStyle/>
          <a:p>
            <a:r>
              <a:rPr lang="ru-RU" dirty="0"/>
              <a:t>Цели создания системы</a:t>
            </a:r>
          </a:p>
        </p:txBody>
      </p:sp>
      <p:sp>
        <p:nvSpPr>
          <p:cNvPr id="3" name="Объект 2"/>
          <p:cNvSpPr>
            <a:spLocks noGrp="1"/>
          </p:cNvSpPr>
          <p:nvPr>
            <p:ph idx="1"/>
          </p:nvPr>
        </p:nvSpPr>
        <p:spPr>
          <a:xfrm>
            <a:off x="1371600" y="1036320"/>
            <a:ext cx="9601200" cy="5486400"/>
          </a:xfrm>
        </p:spPr>
        <p:txBody>
          <a:bodyPr>
            <a:normAutofit fontScale="92500" lnSpcReduction="10000"/>
          </a:bodyPr>
          <a:lstStyle/>
          <a:p>
            <a:pPr marL="0" indent="0">
              <a:buNone/>
            </a:pPr>
            <a:r>
              <a:rPr lang="ru-RU" dirty="0"/>
              <a:t>Разработать информационную систему, которая позволила бы клиентам ресторана делать заказ (определенный как набор из одного или большего числа блюд из меню) на сайте, чтобы его можно было забрать или заказать доставку в назначенное место и указанное время, с возможностью выбора оплаты (онлайн, офлайн наличными или по карте). Систему, которая автоматизирует процессы принятия заказа и передачи его на кухню и которая будет отслеживать занятость курьеров. Так же, которая автоматически прокладывает маршрут и хранит данные о заказе и клиенте. </a:t>
            </a:r>
          </a:p>
          <a:p>
            <a:pPr marL="0" indent="0">
              <a:buNone/>
            </a:pPr>
            <a:r>
              <a:rPr lang="ru-RU" dirty="0"/>
              <a:t>BO-1 Сократить время обработки и доставки заказов курьерами на 1.5 часа, чтобы не происходило задержек с доставкой </a:t>
            </a:r>
          </a:p>
          <a:p>
            <a:pPr marL="0" indent="0">
              <a:buNone/>
            </a:pPr>
            <a:r>
              <a:rPr lang="ru-RU" dirty="0"/>
              <a:t>Масштабы: Время, затрачиваемое на обработку и доставку заказов </a:t>
            </a:r>
          </a:p>
          <a:p>
            <a:pPr marL="0" indent="0">
              <a:buNone/>
            </a:pPr>
            <a:r>
              <a:rPr lang="ru-RU" dirty="0"/>
              <a:t>Способ измерения: исследование системы учета заказов ресторана. </a:t>
            </a:r>
          </a:p>
          <a:p>
            <a:pPr marL="0" indent="0">
              <a:buNone/>
            </a:pPr>
            <a:r>
              <a:rPr lang="ru-RU" dirty="0"/>
              <a:t>Показатели в прошлом: 2.5 часа </a:t>
            </a:r>
          </a:p>
          <a:p>
            <a:pPr marL="0" indent="0">
              <a:buNone/>
            </a:pPr>
            <a:r>
              <a:rPr lang="ru-RU" dirty="0"/>
              <a:t>Планируемые показатели: не более 1 часа. Обязательные показатели: не более 1 часа. </a:t>
            </a:r>
          </a:p>
          <a:p>
            <a:pPr marL="0" indent="0">
              <a:buNone/>
            </a:pPr>
            <a:r>
              <a:rPr lang="ru-RU" dirty="0"/>
              <a:t>BO-2 Сэкономить топливо на 15% благодаря оптимизации маршрута к концу месяца после начала работы системы</a:t>
            </a:r>
          </a:p>
          <a:p>
            <a:pPr marL="0" indent="0">
              <a:buNone/>
            </a:pPr>
            <a:r>
              <a:rPr lang="ru-RU" dirty="0"/>
              <a:t>BO-3 Увеличить объем выполненных заказов на 20% к концу месяца после начала работы системы</a:t>
            </a:r>
          </a:p>
        </p:txBody>
      </p:sp>
    </p:spTree>
    <p:extLst>
      <p:ext uri="{BB962C8B-B14F-4D97-AF65-F5344CB8AC3E}">
        <p14:creationId xmlns:p14="http://schemas.microsoft.com/office/powerpoint/2010/main" val="2607174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58360" y="231556"/>
            <a:ext cx="9108831" cy="685800"/>
          </a:xfrm>
        </p:spPr>
        <p:txBody>
          <a:bodyPr>
            <a:noAutofit/>
          </a:bodyPr>
          <a:lstStyle/>
          <a:p>
            <a:r>
              <a:rPr lang="en-US" sz="2400" dirty="0" smtClean="0"/>
              <a:t>Use Case Diagram</a:t>
            </a:r>
            <a:br>
              <a:rPr lang="en-US" sz="2400" dirty="0" smtClean="0"/>
            </a:br>
            <a:r>
              <a:rPr lang="ru-RU" sz="2400" dirty="0"/>
              <a:t/>
            </a:r>
            <a:br>
              <a:rPr lang="ru-RU" sz="2400" dirty="0"/>
            </a:br>
            <a:endParaRPr lang="ru-RU" sz="2400" dirty="0"/>
          </a:p>
        </p:txBody>
      </p:sp>
      <p:pic>
        <p:nvPicPr>
          <p:cNvPr id="3" name="Рисунок 2"/>
          <p:cNvPicPr>
            <a:picLocks noChangeAspect="1"/>
          </p:cNvPicPr>
          <p:nvPr/>
        </p:nvPicPr>
        <p:blipFill>
          <a:blip r:embed="rId2"/>
          <a:stretch>
            <a:fillRect/>
          </a:stretch>
        </p:blipFill>
        <p:spPr>
          <a:xfrm>
            <a:off x="2011581" y="697548"/>
            <a:ext cx="9323997" cy="5808760"/>
          </a:xfrm>
          <a:prstGeom prst="rect">
            <a:avLst/>
          </a:prstGeom>
        </p:spPr>
      </p:pic>
    </p:spTree>
    <p:extLst>
      <p:ext uri="{BB962C8B-B14F-4D97-AF65-F5344CB8AC3E}">
        <p14:creationId xmlns:p14="http://schemas.microsoft.com/office/powerpoint/2010/main" val="601096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58360" y="231556"/>
            <a:ext cx="9108831" cy="685800"/>
          </a:xfrm>
        </p:spPr>
        <p:txBody>
          <a:bodyPr>
            <a:noAutofit/>
          </a:bodyPr>
          <a:lstStyle/>
          <a:p>
            <a:r>
              <a:rPr lang="ru-RU" sz="2400" b="1" dirty="0"/>
              <a:t>Модель данных (</a:t>
            </a:r>
            <a:r>
              <a:rPr lang="en-US" sz="2400" b="1" dirty="0"/>
              <a:t>ER-</a:t>
            </a:r>
            <a:r>
              <a:rPr lang="ru-RU" sz="2400" b="1" dirty="0"/>
              <a:t>диаграмма)</a:t>
            </a:r>
            <a:r>
              <a:rPr lang="ru-RU" sz="2400" dirty="0"/>
              <a:t/>
            </a:r>
            <a:br>
              <a:rPr lang="ru-RU" sz="2400" dirty="0"/>
            </a:br>
            <a:endParaRPr lang="ru-RU" sz="2400" dirty="0"/>
          </a:p>
        </p:txBody>
      </p:sp>
      <p:pic>
        <p:nvPicPr>
          <p:cNvPr id="5" name="Объект 4"/>
          <p:cNvPicPr>
            <a:picLocks noGrp="1" noChangeAspect="1"/>
          </p:cNvPicPr>
          <p:nvPr>
            <p:ph idx="1"/>
          </p:nvPr>
        </p:nvPicPr>
        <p:blipFill>
          <a:blip r:embed="rId2" cstate="hqprint">
            <a:extLst>
              <a:ext uri="{28A0092B-C50C-407E-A947-70E740481C1C}">
                <a14:useLocalDpi xmlns:a14="http://schemas.microsoft.com/office/drawing/2010/main" val="0"/>
              </a:ext>
            </a:extLst>
          </a:blip>
          <a:stretch>
            <a:fillRect/>
          </a:stretch>
        </p:blipFill>
        <p:spPr>
          <a:xfrm>
            <a:off x="89128" y="1617784"/>
            <a:ext cx="12041325" cy="3807069"/>
          </a:xfrm>
        </p:spPr>
      </p:pic>
    </p:spTree>
    <p:extLst>
      <p:ext uri="{BB962C8B-B14F-4D97-AF65-F5344CB8AC3E}">
        <p14:creationId xmlns:p14="http://schemas.microsoft.com/office/powerpoint/2010/main" val="3637480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58360" y="231556"/>
            <a:ext cx="9108831" cy="685800"/>
          </a:xfrm>
        </p:spPr>
        <p:txBody>
          <a:bodyPr>
            <a:noAutofit/>
          </a:bodyPr>
          <a:lstStyle/>
          <a:p>
            <a:r>
              <a:rPr lang="ru-RU" sz="2400" b="1" dirty="0"/>
              <a:t>Модель данных (</a:t>
            </a:r>
            <a:r>
              <a:rPr lang="en-US" sz="2400" b="1" dirty="0"/>
              <a:t>ER-</a:t>
            </a:r>
            <a:r>
              <a:rPr lang="ru-RU" sz="2400" b="1" dirty="0"/>
              <a:t>диаграмма)</a:t>
            </a:r>
            <a:r>
              <a:rPr lang="ru-RU" sz="2400" dirty="0"/>
              <a:t/>
            </a:r>
            <a:br>
              <a:rPr lang="ru-RU" sz="2400" dirty="0"/>
            </a:br>
            <a:endParaRPr lang="ru-RU" sz="2400" dirty="0"/>
          </a:p>
        </p:txBody>
      </p:sp>
      <p:pic>
        <p:nvPicPr>
          <p:cNvPr id="5" name="Объект 4"/>
          <p:cNvPicPr>
            <a:picLocks noGrp="1" noChangeAspect="1"/>
          </p:cNvPicPr>
          <p:nvPr>
            <p:ph idx="1"/>
          </p:nvPr>
        </p:nvPicPr>
        <p:blipFill>
          <a:blip r:embed="rId2" cstate="hqprint">
            <a:extLst>
              <a:ext uri="{28A0092B-C50C-407E-A947-70E740481C1C}">
                <a14:useLocalDpi xmlns:a14="http://schemas.microsoft.com/office/drawing/2010/main" val="0"/>
              </a:ext>
            </a:extLst>
          </a:blip>
          <a:stretch>
            <a:fillRect/>
          </a:stretch>
        </p:blipFill>
        <p:spPr>
          <a:xfrm>
            <a:off x="89128" y="1617784"/>
            <a:ext cx="12041325" cy="3807069"/>
          </a:xfrm>
        </p:spPr>
      </p:pic>
    </p:spTree>
    <p:extLst>
      <p:ext uri="{BB962C8B-B14F-4D97-AF65-F5344CB8AC3E}">
        <p14:creationId xmlns:p14="http://schemas.microsoft.com/office/powerpoint/2010/main" val="434214499"/>
      </p:ext>
    </p:extLst>
  </p:cSld>
  <p:clrMapOvr>
    <a:masterClrMapping/>
  </p:clrMapOvr>
</p:sld>
</file>

<file path=ppt/theme/theme1.xml><?xml version="1.0" encoding="utf-8"?>
<a:theme xmlns:a="http://schemas.openxmlformats.org/drawingml/2006/main" name="Crop">
  <a:themeElements>
    <a:clrScheme name="Другая 4">
      <a:dk1>
        <a:sysClr val="windowText" lastClr="000000"/>
      </a:dk1>
      <a:lt1>
        <a:sysClr val="window" lastClr="FFFFFF"/>
      </a:lt1>
      <a:dk2>
        <a:srgbClr val="491347"/>
      </a:dk2>
      <a:lt2>
        <a:srgbClr val="EAE5EB"/>
      </a:lt2>
      <a:accent1>
        <a:srgbClr val="92278F"/>
      </a:accent1>
      <a:accent2>
        <a:srgbClr val="D565D2"/>
      </a:accent2>
      <a:accent3>
        <a:srgbClr val="D565D2"/>
      </a:accent3>
      <a:accent4>
        <a:srgbClr val="D565D2"/>
      </a:accent4>
      <a:accent5>
        <a:srgbClr val="E398E1"/>
      </a:accent5>
      <a:accent6>
        <a:srgbClr val="F1CBF0"/>
      </a:accent6>
      <a:hlink>
        <a:srgbClr val="92278F"/>
      </a:hlink>
      <a:folHlink>
        <a:srgbClr val="6666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TM10001105[[fn=Уголки]]</Template>
  <TotalTime>326</TotalTime>
  <Words>440</Words>
  <Application>Microsoft Office PowerPoint</Application>
  <PresentationFormat>Широкоэкранный</PresentationFormat>
  <Paragraphs>30</Paragraphs>
  <Slides>7</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7</vt:i4>
      </vt:variant>
    </vt:vector>
  </HeadingPairs>
  <TitlesOfParts>
    <vt:vector size="11" baseType="lpstr">
      <vt:lpstr>Calibri</vt:lpstr>
      <vt:lpstr>Franklin Gothic Book</vt:lpstr>
      <vt:lpstr>Times New Roman</vt:lpstr>
      <vt:lpstr>Crop</vt:lpstr>
      <vt:lpstr>Система доставки еды «Bunnies»</vt:lpstr>
      <vt:lpstr>Bunnies – сервис быстрой и удобной доставки еды с акцентом на здоровое питание и персонализацию. </vt:lpstr>
      <vt:lpstr>Bunnies – сервис быстрой и удобной доставки еды с акцентом на здоровое питание и персонализацию. </vt:lpstr>
      <vt:lpstr>Цели создания системы</vt:lpstr>
      <vt:lpstr>Use Case Diagram  </vt:lpstr>
      <vt:lpstr>Модель данных (ER-диаграмма) </vt:lpstr>
      <vt:lpstr>Модель данных (ER-диаграмма)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Система доставки еды «Two Bunnies»</dc:title>
  <dc:creator>Настя</dc:creator>
  <cp:lastModifiedBy>Кубышева Полина Александровна</cp:lastModifiedBy>
  <cp:revision>31</cp:revision>
  <dcterms:created xsi:type="dcterms:W3CDTF">2022-10-19T15:48:45Z</dcterms:created>
  <dcterms:modified xsi:type="dcterms:W3CDTF">2025-10-14T11:52:28Z</dcterms:modified>
</cp:coreProperties>
</file>