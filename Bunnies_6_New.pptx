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4" r:id="rId1"/>
  </p:sldMasterIdLst>
  <p:notesMasterIdLst>
    <p:notesMasterId r:id="rId6"/>
  </p:notesMasterIdLst>
  <p:sldIdLst>
    <p:sldId id="256" r:id="rId2"/>
    <p:sldId id="289" r:id="rId3"/>
    <p:sldId id="290" r:id="rId4"/>
    <p:sldId id="291" r:id="rId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182" autoAdjust="0"/>
    <p:restoredTop sz="94431" autoAdjust="0"/>
  </p:normalViewPr>
  <p:slideViewPr>
    <p:cSldViewPr snapToGrid="0">
      <p:cViewPr varScale="1">
        <p:scale>
          <a:sx n="67" d="100"/>
          <a:sy n="67" d="100"/>
        </p:scale>
        <p:origin x="732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836D596-4345-41F1-8C33-D5FFDBDA09DB}" type="datetimeFigureOut">
              <a:rPr lang="ru-RU" smtClean="0"/>
              <a:t>09.12.2025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69DD474-E2D3-4DE7-93E1-AAA5D2846E4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167635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15128" y="1788454"/>
            <a:ext cx="8361229" cy="2098226"/>
          </a:xfrm>
        </p:spPr>
        <p:txBody>
          <a:bodyPr anchor="b">
            <a:noAutofit/>
          </a:bodyPr>
          <a:lstStyle>
            <a:lvl1pPr algn="ctr">
              <a:defRPr sz="7200" cap="all" baseline="0">
                <a:solidFill>
                  <a:schemeClr val="tx2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79906" y="3956279"/>
            <a:ext cx="6831673" cy="1086237"/>
          </a:xfrm>
        </p:spPr>
        <p:txBody>
          <a:bodyPr>
            <a:normAutofit/>
          </a:bodyPr>
          <a:lstStyle>
            <a:lvl1pPr marL="0" indent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3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52858" y="6453386"/>
            <a:ext cx="1607944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5F01B63F-C133-4857-92A2-47A83411716A}" type="datetimeFigureOut">
              <a:rPr lang="ru-RU" smtClean="0"/>
              <a:t>09.12.2025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054" y="6453386"/>
            <a:ext cx="7023377" cy="404614"/>
          </a:xfrm>
        </p:spPr>
        <p:txBody>
          <a:bodyPr/>
          <a:lstStyle>
            <a:lvl1pPr algn="ctr">
              <a:defRPr baseline="0">
                <a:solidFill>
                  <a:schemeClr val="tx2"/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DB2EAD10-6C96-400C-A593-45909D4B4BAC}" type="slidenum">
              <a:rPr lang="ru-RU" smtClean="0"/>
              <a:t>‹#›</a:t>
            </a:fld>
            <a:endParaRPr lang="ru-RU"/>
          </a:p>
        </p:txBody>
      </p:sp>
      <p:grpSp>
        <p:nvGrpSpPr>
          <p:cNvPr id="7" name="Group 6"/>
          <p:cNvGrpSpPr/>
          <p:nvPr/>
        </p:nvGrpSpPr>
        <p:grpSpPr>
          <a:xfrm>
            <a:off x="752858" y="744469"/>
            <a:ext cx="10674117" cy="5349671"/>
            <a:chOff x="752858" y="744469"/>
            <a:chExt cx="10674117" cy="5349671"/>
          </a:xfrm>
        </p:grpSpPr>
        <p:sp>
          <p:nvSpPr>
            <p:cNvPr id="11" name="Freeform 6"/>
            <p:cNvSpPr/>
            <p:nvPr/>
          </p:nvSpPr>
          <p:spPr bwMode="auto">
            <a:xfrm>
              <a:off x="8151962" y="1685652"/>
              <a:ext cx="3275013" cy="4408488"/>
            </a:xfrm>
            <a:custGeom>
              <a:avLst/>
              <a:gdLst/>
              <a:ahLst/>
              <a:cxnLst/>
              <a:rect l="l" t="t" r="r" b="b"/>
              <a:pathLst>
                <a:path w="10000" h="10000">
                  <a:moveTo>
                    <a:pt x="8761" y="0"/>
                  </a:moveTo>
                  <a:lnTo>
                    <a:pt x="10000" y="0"/>
                  </a:lnTo>
                  <a:lnTo>
                    <a:pt x="10000" y="10000"/>
                  </a:lnTo>
                  <a:lnTo>
                    <a:pt x="0" y="10000"/>
                  </a:lnTo>
                  <a:lnTo>
                    <a:pt x="0" y="9126"/>
                  </a:lnTo>
                  <a:lnTo>
                    <a:pt x="8761" y="9127"/>
                  </a:lnTo>
                  <a:lnTo>
                    <a:pt x="8761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  <p:sp>
          <p:nvSpPr>
            <p:cNvPr id="14" name="Freeform 6"/>
            <p:cNvSpPr/>
            <p:nvPr/>
          </p:nvSpPr>
          <p:spPr bwMode="auto">
            <a:xfrm flipH="1" flipV="1">
              <a:off x="752858" y="744469"/>
              <a:ext cx="3275668" cy="4408488"/>
            </a:xfrm>
            <a:custGeom>
              <a:avLst/>
              <a:gdLst/>
              <a:ahLst/>
              <a:cxnLst/>
              <a:rect l="l" t="t" r="r" b="b"/>
              <a:pathLst>
                <a:path w="10002" h="10000">
                  <a:moveTo>
                    <a:pt x="8763" y="0"/>
                  </a:moveTo>
                  <a:lnTo>
                    <a:pt x="10002" y="0"/>
                  </a:lnTo>
                  <a:lnTo>
                    <a:pt x="10002" y="10000"/>
                  </a:lnTo>
                  <a:lnTo>
                    <a:pt x="2" y="10000"/>
                  </a:lnTo>
                  <a:cubicBezTo>
                    <a:pt x="-2" y="9698"/>
                    <a:pt x="4" y="9427"/>
                    <a:pt x="0" y="9125"/>
                  </a:cubicBezTo>
                  <a:lnTo>
                    <a:pt x="8763" y="9128"/>
                  </a:lnTo>
                  <a:lnTo>
                    <a:pt x="8763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</p:grpSp>
    </p:spTree>
    <p:extLst>
      <p:ext uri="{BB962C8B-B14F-4D97-AF65-F5344CB8AC3E}">
        <p14:creationId xmlns:p14="http://schemas.microsoft.com/office/powerpoint/2010/main" val="129207810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01B63F-C133-4857-92A2-47A83411716A}" type="datetimeFigureOut">
              <a:rPr lang="ru-RU" smtClean="0"/>
              <a:t>09.12.2025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2EAD10-6C96-400C-A593-45909D4B4BA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498365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Заголовок раздела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5025" y="1301360"/>
            <a:ext cx="9612971" cy="2852737"/>
          </a:xfrm>
        </p:spPr>
        <p:txBody>
          <a:bodyPr anchor="b">
            <a:normAutofit/>
          </a:bodyPr>
          <a:lstStyle>
            <a:lvl1pPr algn="r">
              <a:defRPr sz="7200" cap="all" baseline="0">
                <a:solidFill>
                  <a:schemeClr val="tx2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5025" y="4216328"/>
            <a:ext cx="9612971" cy="1143324"/>
          </a:xfrm>
        </p:spPr>
        <p:txBody>
          <a:bodyPr/>
          <a:lstStyle>
            <a:lvl1pPr marL="0" indent="0"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tx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38908" y="6453386"/>
            <a:ext cx="1622409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5F01B63F-C133-4857-92A2-47A83411716A}" type="datetimeFigureOut">
              <a:rPr lang="ru-RU" smtClean="0"/>
              <a:t>09.12.2025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312" y="6453386"/>
            <a:ext cx="7023377" cy="404614"/>
          </a:xfrm>
        </p:spPr>
        <p:txBody>
          <a:bodyPr/>
          <a:lstStyle>
            <a:lvl1pPr algn="ctr">
              <a:defRPr>
                <a:solidFill>
                  <a:schemeClr val="tx2"/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DB2EAD10-6C96-400C-A593-45909D4B4BAC}" type="slidenum">
              <a:rPr lang="ru-RU" smtClean="0"/>
              <a:t>‹#›</a:t>
            </a:fld>
            <a:endParaRPr lang="ru-RU"/>
          </a:p>
        </p:txBody>
      </p:sp>
      <p:sp>
        <p:nvSpPr>
          <p:cNvPr id="7" name="Freeform 6" title="Crop Mark"/>
          <p:cNvSpPr/>
          <p:nvPr/>
        </p:nvSpPr>
        <p:spPr bwMode="auto">
          <a:xfrm>
            <a:off x="8151962" y="1685652"/>
            <a:ext cx="3275013" cy="4408488"/>
          </a:xfrm>
          <a:custGeom>
            <a:avLst/>
            <a:gdLst/>
            <a:ahLst/>
            <a:cxnLst/>
            <a:rect l="0" t="0" r="r" b="b"/>
            <a:pathLst>
              <a:path w="4125" h="5554">
                <a:moveTo>
                  <a:pt x="3614" y="0"/>
                </a:moveTo>
                <a:lnTo>
                  <a:pt x="4125" y="0"/>
                </a:lnTo>
                <a:lnTo>
                  <a:pt x="4125" y="5554"/>
                </a:lnTo>
                <a:lnTo>
                  <a:pt x="0" y="5554"/>
                </a:lnTo>
                <a:lnTo>
                  <a:pt x="0" y="5074"/>
                </a:lnTo>
                <a:lnTo>
                  <a:pt x="3614" y="5074"/>
                </a:lnTo>
                <a:lnTo>
                  <a:pt x="3614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</p:spTree>
    <p:extLst>
      <p:ext uri="{BB962C8B-B14F-4D97-AF65-F5344CB8AC3E}">
        <p14:creationId xmlns:p14="http://schemas.microsoft.com/office/powerpoint/2010/main" val="207987720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371600" y="2285999"/>
            <a:ext cx="4447786" cy="3581401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25403" y="2285999"/>
            <a:ext cx="4447786" cy="3581401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01B63F-C133-4857-92A2-47A83411716A}" type="datetimeFigureOut">
              <a:rPr lang="ru-RU" smtClean="0"/>
              <a:t>09.12.2025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2EAD10-6C96-400C-A593-45909D4B4BA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10476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340864"/>
            <a:ext cx="4443984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71600" y="3305207"/>
            <a:ext cx="4443984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5014" y="2340864"/>
            <a:ext cx="4443984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25014" y="3305207"/>
            <a:ext cx="4443984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01B63F-C133-4857-92A2-47A83411716A}" type="datetimeFigureOut">
              <a:rPr lang="ru-RU" smtClean="0"/>
              <a:t>09.12.2025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2EAD10-6C96-400C-A593-45909D4B4BA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754217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01B63F-C133-4857-92A2-47A83411716A}" type="datetimeFigureOut">
              <a:rPr lang="ru-RU" smtClean="0"/>
              <a:t>09.12.2025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2EAD10-6C96-400C-A593-45909D4B4BA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901787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01B63F-C133-4857-92A2-47A83411716A}" type="datetimeFigureOut">
              <a:rPr lang="ru-RU" smtClean="0"/>
              <a:t>09.12.2025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2EAD10-6C96-400C-A593-45909D4B4BA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689823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</p:spPr>
        <p:txBody>
          <a:bodyPr anchor="t">
            <a:noAutofit/>
          </a:bodyPr>
          <a:lstStyle>
            <a:lvl1pPr>
              <a:lnSpc>
                <a:spcPct val="84000"/>
              </a:lnSpc>
              <a:defRPr sz="4800" baseline="0">
                <a:solidFill>
                  <a:schemeClr val="tx2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56020" y="685801"/>
            <a:ext cx="5212080" cy="517525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2856344"/>
            <a:ext cx="3855720" cy="3011056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5F01B63F-C133-4857-92A2-47A83411716A}" type="datetimeFigureOut">
              <a:rPr lang="ru-RU" smtClean="0"/>
              <a:t>09.12.2025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DB2EAD10-6C96-400C-A593-45909D4B4BAC}" type="slidenum">
              <a:rPr lang="ru-RU" smtClean="0"/>
              <a:t>‹#›</a:t>
            </a:fld>
            <a:endParaRPr lang="ru-RU"/>
          </a:p>
        </p:txBody>
      </p:sp>
      <p:sp>
        <p:nvSpPr>
          <p:cNvPr id="9" name="Rectangle 8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39331781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</p:spPr>
        <p:txBody>
          <a:bodyPr anchor="t">
            <a:normAutofit/>
          </a:bodyPr>
          <a:lstStyle>
            <a:lvl1pPr>
              <a:lnSpc>
                <a:spcPct val="84000"/>
              </a:lnSpc>
              <a:defRPr sz="4800" baseline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532120" y="0"/>
            <a:ext cx="6659880" cy="6857999"/>
          </a:xfrm>
        </p:spPr>
        <p:txBody>
          <a:bodyPr anchor="t"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2855968"/>
            <a:ext cx="3855720" cy="3011432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5F01B63F-C133-4857-92A2-47A83411716A}" type="datetimeFigureOut">
              <a:rPr lang="ru-RU" smtClean="0"/>
              <a:t>09.12.2025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DB2EAD10-6C96-400C-A593-45909D4B4BAC}" type="slidenum">
              <a:rPr lang="ru-RU" smtClean="0"/>
              <a:t>‹#›</a:t>
            </a:fld>
            <a:endParaRPr lang="ru-RU"/>
          </a:p>
        </p:txBody>
      </p:sp>
      <p:sp>
        <p:nvSpPr>
          <p:cNvPr id="9" name="Rectangle 8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304640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2295525"/>
            <a:ext cx="9601200" cy="3571875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01B63F-C133-4857-92A2-47A83411716A}" type="datetimeFigureOut">
              <a:rPr lang="ru-RU" smtClean="0"/>
              <a:t>09.12.2025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2EAD10-6C96-400C-A593-45909D4B4BA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784088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596561" y="624156"/>
            <a:ext cx="1565766" cy="5243244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624156"/>
            <a:ext cx="8179641" cy="5243244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01B63F-C133-4857-92A2-47A83411716A}" type="datetimeFigureOut">
              <a:rPr lang="ru-RU" smtClean="0"/>
              <a:t>09.12.2025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2EAD10-6C96-400C-A593-45909D4B4BA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841588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286000"/>
            <a:ext cx="9601200" cy="3581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390650" y="6453386"/>
            <a:ext cx="120457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/>
                </a:solidFill>
              </a:defRPr>
            </a:lvl1pPr>
          </a:lstStyle>
          <a:p>
            <a:fld id="{5F01B63F-C133-4857-92A2-47A83411716A}" type="datetimeFigureOut">
              <a:rPr lang="ru-RU" smtClean="0"/>
              <a:t>09.12.2025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893564" y="6453386"/>
            <a:ext cx="6280830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/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472736" y="6453386"/>
            <a:ext cx="159629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tx2"/>
                </a:solidFill>
              </a:defRPr>
            </a:lvl1pPr>
          </a:lstStyle>
          <a:p>
            <a:fld id="{DB2EAD10-6C96-400C-A593-45909D4B4BAC}" type="slidenum">
              <a:rPr lang="ru-RU" smtClean="0"/>
              <a:t>‹#›</a:t>
            </a:fld>
            <a:endParaRPr lang="ru-RU"/>
          </a:p>
        </p:txBody>
      </p:sp>
      <p:sp>
        <p:nvSpPr>
          <p:cNvPr id="9" name="Rectangle 8" title="Side bar"/>
          <p:cNvSpPr/>
          <p:nvPr/>
        </p:nvSpPr>
        <p:spPr>
          <a:xfrm>
            <a:off x="478095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27024707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5" r:id="rId1"/>
    <p:sldLayoutId id="2147483716" r:id="rId2"/>
    <p:sldLayoutId id="2147483717" r:id="rId3"/>
    <p:sldLayoutId id="2147483718" r:id="rId4"/>
    <p:sldLayoutId id="2147483719" r:id="rId5"/>
    <p:sldLayoutId id="2147483720" r:id="rId6"/>
    <p:sldLayoutId id="2147483721" r:id="rId7"/>
    <p:sldLayoutId id="2147483722" r:id="rId8"/>
    <p:sldLayoutId id="2147483723" r:id="rId9"/>
    <p:sldLayoutId id="2147483724" r:id="rId10"/>
    <p:sldLayoutId id="2147483725" r:id="rId11"/>
  </p:sldLayoutIdLst>
  <p:txStyles>
    <p:titleStyle>
      <a:lvl1pPr algn="l" defTabSz="914400" rtl="0" eaLnBrk="1" latinLnBrk="0" hangingPunct="1">
        <a:lnSpc>
          <a:spcPct val="89000"/>
        </a:lnSpc>
        <a:spcBef>
          <a:spcPct val="0"/>
        </a:spcBef>
        <a:buNone/>
        <a:defRPr sz="4400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84048" indent="-384048" algn="l" defTabSz="914400" rtl="0" eaLnBrk="1" latinLnBrk="0" hangingPunct="1">
        <a:lnSpc>
          <a:spcPct val="94000"/>
        </a:lnSpc>
        <a:spcBef>
          <a:spcPts val="1000"/>
        </a:spcBef>
        <a:spcAft>
          <a:spcPts val="200"/>
        </a:spcAft>
        <a:buFont typeface="Franklin Gothic Book" panose="020B0503020102020204" pitchFamily="34" charset="0"/>
        <a:buChar char="■"/>
        <a:defRPr sz="2000" kern="1200" baseline="0">
          <a:solidFill>
            <a:schemeClr val="tx2"/>
          </a:solidFill>
          <a:latin typeface="+mn-lt"/>
          <a:ea typeface="+mn-ea"/>
          <a:cs typeface="+mn-cs"/>
        </a:defRPr>
      </a:lvl1pPr>
      <a:lvl2pPr marL="9144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2000" i="1" kern="1200" baseline="0">
          <a:solidFill>
            <a:schemeClr val="tx2"/>
          </a:solidFill>
          <a:latin typeface="+mn-lt"/>
          <a:ea typeface="+mn-ea"/>
          <a:cs typeface="+mn-cs"/>
        </a:defRPr>
      </a:lvl2pPr>
      <a:lvl3pPr marL="13716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800" kern="1200" baseline="0">
          <a:solidFill>
            <a:schemeClr val="tx2"/>
          </a:solidFill>
          <a:latin typeface="+mn-lt"/>
          <a:ea typeface="+mn-ea"/>
          <a:cs typeface="+mn-cs"/>
        </a:defRPr>
      </a:lvl3pPr>
      <a:lvl4pPr marL="18288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800" i="1" kern="1200" baseline="0">
          <a:solidFill>
            <a:schemeClr val="tx2"/>
          </a:solidFill>
          <a:latin typeface="+mn-lt"/>
          <a:ea typeface="+mn-ea"/>
          <a:cs typeface="+mn-cs"/>
        </a:defRPr>
      </a:lvl4pPr>
      <a:lvl5pPr marL="22860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600" kern="1200" baseline="0">
          <a:solidFill>
            <a:schemeClr val="tx2"/>
          </a:solidFill>
          <a:latin typeface="+mn-lt"/>
          <a:ea typeface="+mn-ea"/>
          <a:cs typeface="+mn-cs"/>
        </a:defRPr>
      </a:lvl5pPr>
      <a:lvl6pPr marL="27432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600" i="1" kern="1200" baseline="0">
          <a:solidFill>
            <a:schemeClr val="tx2"/>
          </a:solidFill>
          <a:latin typeface="+mn-lt"/>
          <a:ea typeface="+mn-ea"/>
          <a:cs typeface="+mn-cs"/>
        </a:defRPr>
      </a:lvl6pPr>
      <a:lvl7pPr marL="32004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7pPr>
      <a:lvl8pPr marL="36576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400" i="1" kern="1200" baseline="0">
          <a:solidFill>
            <a:schemeClr val="tx2"/>
          </a:solidFill>
          <a:latin typeface="+mn-lt"/>
          <a:ea typeface="+mn-ea"/>
          <a:cs typeface="+mn-cs"/>
        </a:defRPr>
      </a:lvl8pPr>
      <a:lvl9pPr marL="41148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1368">
          <p15:clr>
            <a:srgbClr val="F26B43"/>
          </p15:clr>
        </p15:guide>
        <p15:guide id="4" orient="horz" pos="1440">
          <p15:clr>
            <a:srgbClr val="F26B43"/>
          </p15:clr>
        </p15:guide>
        <p15:guide id="6" orient="horz" pos="3696">
          <p15:clr>
            <a:srgbClr val="F26B43"/>
          </p15:clr>
        </p15:guide>
        <p15:guide id="7" orient="horz" pos="432">
          <p15:clr>
            <a:srgbClr val="F26B43"/>
          </p15:clr>
        </p15:guide>
        <p15:guide id="8" orient="horz" pos="1512">
          <p15:clr>
            <a:srgbClr val="F26B43"/>
          </p15:clr>
        </p15:guide>
        <p15:guide id="9" pos="6912">
          <p15:clr>
            <a:srgbClr val="F26B43"/>
          </p15:clr>
        </p15:guide>
        <p15:guide id="10" pos="936">
          <p15:clr>
            <a:srgbClr val="F26B43"/>
          </p15:clr>
        </p15:guide>
        <p15:guide id="11" pos="86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218BAB7-826C-3B11-C203-0276B18CC0C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950297" y="2043431"/>
            <a:ext cx="8361229" cy="2098226"/>
          </a:xfrm>
        </p:spPr>
        <p:txBody>
          <a:bodyPr/>
          <a:lstStyle/>
          <a:p>
            <a:r>
              <a:rPr lang="ru-RU" dirty="0"/>
              <a:t>Система доставки еды</a:t>
            </a:r>
            <a:br>
              <a:rPr lang="ru-RU" dirty="0"/>
            </a:br>
            <a:r>
              <a:rPr lang="ru-RU" dirty="0"/>
              <a:t>«</a:t>
            </a:r>
            <a:r>
              <a:rPr lang="en-US" dirty="0"/>
              <a:t>Bunnies</a:t>
            </a:r>
            <a:r>
              <a:rPr lang="ru-RU" dirty="0"/>
              <a:t>»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1623D058-528A-C959-C72C-57D414F5BA4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260123" y="4150929"/>
            <a:ext cx="4878901" cy="1655762"/>
          </a:xfrm>
        </p:spPr>
        <p:txBody>
          <a:bodyPr>
            <a:normAutofit lnSpcReduction="10000"/>
          </a:bodyPr>
          <a:lstStyle/>
          <a:p>
            <a:pPr algn="l"/>
            <a:r>
              <a:rPr lang="ru-RU" dirty="0"/>
              <a:t>Выполнили: </a:t>
            </a:r>
          </a:p>
          <a:p>
            <a:pPr algn="l"/>
            <a:r>
              <a:rPr lang="ru-RU" dirty="0" err="1"/>
              <a:t>Прогонская</a:t>
            </a:r>
            <a:r>
              <a:rPr lang="ru-RU" dirty="0"/>
              <a:t> Анастасия,</a:t>
            </a:r>
          </a:p>
          <a:p>
            <a:pPr algn="l"/>
            <a:r>
              <a:rPr lang="ru-RU" dirty="0"/>
              <a:t>Кубышева Полина, Мамедов </a:t>
            </a:r>
            <a:r>
              <a:rPr lang="ru-RU" dirty="0" err="1"/>
              <a:t>Эмин</a:t>
            </a:r>
            <a:r>
              <a:rPr lang="ru-RU" dirty="0"/>
              <a:t>, </a:t>
            </a:r>
            <a:r>
              <a:rPr lang="ru-RU" dirty="0" err="1"/>
              <a:t>Углова</a:t>
            </a:r>
            <a:r>
              <a:rPr lang="ru-RU" dirty="0"/>
              <a:t> Анна, Костин Данила</a:t>
            </a:r>
          </a:p>
          <a:p>
            <a:pPr algn="l"/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7132024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2C85A1-3397-39DB-5606-B7F6381CE4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8899807-FF02-D503-21C1-DE55266553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8711" y="233680"/>
            <a:ext cx="9737889" cy="671513"/>
          </a:xfrm>
        </p:spPr>
        <p:txBody>
          <a:bodyPr>
            <a:normAutofit/>
          </a:bodyPr>
          <a:lstStyle/>
          <a:p>
            <a:pPr algn="ctr"/>
            <a:r>
              <a:rPr lang="ru-RU" sz="2400" dirty="0"/>
              <a:t>Разбиение на компоненты  </a:t>
            </a:r>
          </a:p>
        </p:txBody>
      </p:sp>
      <p:graphicFrame>
        <p:nvGraphicFramePr>
          <p:cNvPr id="7" name="Объект 6">
            <a:extLst>
              <a:ext uri="{FF2B5EF4-FFF2-40B4-BE49-F238E27FC236}">
                <a16:creationId xmlns:a16="http://schemas.microsoft.com/office/drawing/2014/main" id="{EA21C825-4B5A-ECBF-09DD-03661705DF0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2624184"/>
              </p:ext>
            </p:extLst>
          </p:nvPr>
        </p:nvGraphicFramePr>
        <p:xfrm>
          <a:off x="1295400" y="863600"/>
          <a:ext cx="9601200" cy="5760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800600">
                  <a:extLst>
                    <a:ext uri="{9D8B030D-6E8A-4147-A177-3AD203B41FA5}">
                      <a16:colId xmlns:a16="http://schemas.microsoft.com/office/drawing/2014/main" val="894791530"/>
                    </a:ext>
                  </a:extLst>
                </a:gridCol>
                <a:gridCol w="4800600">
                  <a:extLst>
                    <a:ext uri="{9D8B030D-6E8A-4147-A177-3AD203B41FA5}">
                      <a16:colId xmlns:a16="http://schemas.microsoft.com/office/drawing/2014/main" val="271697086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ru-RU" sz="1600" b="0" dirty="0">
                          <a:effectLst/>
                          <a:latin typeface="quote-cjk-patch"/>
                        </a:rPr>
                        <a:t>Компонент</a:t>
                      </a:r>
                    </a:p>
                  </a:txBody>
                  <a:tcPr marR="152400" marT="95250" marB="95250" anchor="ctr"/>
                </a:tc>
                <a:tc>
                  <a:txBody>
                    <a:bodyPr/>
                    <a:lstStyle/>
                    <a:p>
                      <a:r>
                        <a:rPr lang="ru-RU" sz="1600" b="0" i="0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Назначение</a:t>
                      </a:r>
                      <a:endParaRPr lang="ru-RU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502355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b="1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WebClient</a:t>
                      </a:r>
                      <a:endParaRPr lang="ru-RU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6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Веб-интерфейс для пользователей (сайт)</a:t>
                      </a:r>
                      <a:endParaRPr lang="ru-RU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847666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b="1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MobileClient</a:t>
                      </a:r>
                      <a:endParaRPr lang="ru-RU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6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Мобильное приложение (</a:t>
                      </a:r>
                      <a:r>
                        <a:rPr lang="en-US" sz="16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iOS/Android)</a:t>
                      </a:r>
                      <a:endParaRPr lang="ru-RU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004248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b="1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BackendGateway</a:t>
                      </a:r>
                      <a:endParaRPr lang="ru-RU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6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Единая точка входа для клиентов (API Gateway, маршрутизация запросов)</a:t>
                      </a:r>
                      <a:endParaRPr lang="ru-RU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2341645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b="1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AuthService</a:t>
                      </a:r>
                      <a:endParaRPr lang="ru-RU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6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Регистрация, аутентификация, управление пользователями</a:t>
                      </a:r>
                      <a:endParaRPr lang="ru-RU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815963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b="1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MenuService</a:t>
                      </a:r>
                      <a:endParaRPr lang="ru-RU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6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Управление меню, блюдами, категориями, акциями</a:t>
                      </a:r>
                      <a:endParaRPr lang="ru-RU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505127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b="1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OrderService</a:t>
                      </a:r>
                      <a:endParaRPr lang="ru-RU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6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Создание заказа, управление корзиной, оформление</a:t>
                      </a:r>
                      <a:endParaRPr lang="ru-RU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295466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b="1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PaymentService</a:t>
                      </a:r>
                      <a:endParaRPr lang="ru-RU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6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Обработка оплат (карта, онлайн, наличные), инвойсы</a:t>
                      </a:r>
                      <a:endParaRPr lang="ru-RU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043564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b="1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DeliveryService</a:t>
                      </a:r>
                      <a:endParaRPr lang="ru-RU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6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Управление курьерами, маршрутизация, трекинг заказов</a:t>
                      </a:r>
                      <a:endParaRPr lang="ru-RU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6682628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b="1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NotificationService</a:t>
                      </a:r>
                      <a:endParaRPr lang="ru-RU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6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Уведомления (</a:t>
                      </a:r>
                      <a:r>
                        <a:rPr lang="ru-RU" sz="16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email</a:t>
                      </a:r>
                      <a:r>
                        <a:rPr lang="ru-RU" sz="16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SMS, </a:t>
                      </a:r>
                      <a:r>
                        <a:rPr lang="ru-RU" sz="16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push</a:t>
                      </a:r>
                      <a:r>
                        <a:rPr lang="ru-RU" sz="16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 о статусе заказа</a:t>
                      </a:r>
                      <a:endParaRPr lang="ru-RU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183866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b="1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Database</a:t>
                      </a:r>
                      <a:endParaRPr lang="ru-RU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6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Хранение данных (пользователи, заказы, меню, платежи)</a:t>
                      </a:r>
                      <a:endParaRPr lang="ru-RU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430119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b="1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ExternalPaymentGateway</a:t>
                      </a:r>
                      <a:endParaRPr lang="ru-RU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6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Интеграция с внешними платёжными системами</a:t>
                      </a:r>
                      <a:endParaRPr lang="ru-RU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1971211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281277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6B00CF4-9B56-7193-3549-3CCB7DC0A9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5900" y="231785"/>
            <a:ext cx="9601200" cy="1485900"/>
          </a:xfrm>
        </p:spPr>
        <p:txBody>
          <a:bodyPr/>
          <a:lstStyle/>
          <a:p>
            <a:r>
              <a:rPr lang="ru-RU" b="1" dirty="0"/>
              <a:t>Компонентная диаграмма</a:t>
            </a:r>
            <a:br>
              <a:rPr lang="ru-RU" b="1" dirty="0"/>
            </a:br>
            <a:endParaRPr lang="ru-RU" dirty="0"/>
          </a:p>
        </p:txBody>
      </p:sp>
      <p:pic>
        <p:nvPicPr>
          <p:cNvPr id="5" name="Объект 4">
            <a:extLst>
              <a:ext uri="{FF2B5EF4-FFF2-40B4-BE49-F238E27FC236}">
                <a16:creationId xmlns:a16="http://schemas.microsoft.com/office/drawing/2014/main" id="{712748E1-349D-F34C-C7F4-942D370DE37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828798" y="860435"/>
            <a:ext cx="9601200" cy="56640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404661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00E83C5-F1CB-5600-C8D3-741A236622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Диаграмма развёртывания</a:t>
            </a:r>
            <a:br>
              <a:rPr lang="ru-RU" b="1" dirty="0"/>
            </a:br>
            <a:endParaRPr lang="ru-RU" dirty="0"/>
          </a:p>
        </p:txBody>
      </p:sp>
      <p:pic>
        <p:nvPicPr>
          <p:cNvPr id="5" name="Объект 4">
            <a:extLst>
              <a:ext uri="{FF2B5EF4-FFF2-40B4-BE49-F238E27FC236}">
                <a16:creationId xmlns:a16="http://schemas.microsoft.com/office/drawing/2014/main" id="{230C121A-9489-3BD3-B66B-0B2014CA51B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785937" y="1428750"/>
            <a:ext cx="8343901" cy="53418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27487"/>
      </p:ext>
    </p:extLst>
  </p:cSld>
  <p:clrMapOvr>
    <a:masterClrMapping/>
  </p:clrMapOvr>
</p:sld>
</file>

<file path=ppt/theme/theme1.xml><?xml version="1.0" encoding="utf-8"?>
<a:theme xmlns:a="http://schemas.openxmlformats.org/drawingml/2006/main" name="Crop">
  <a:themeElements>
    <a:clrScheme name="Другая 4">
      <a:dk1>
        <a:sysClr val="windowText" lastClr="000000"/>
      </a:dk1>
      <a:lt1>
        <a:sysClr val="window" lastClr="FFFFFF"/>
      </a:lt1>
      <a:dk2>
        <a:srgbClr val="491347"/>
      </a:dk2>
      <a:lt2>
        <a:srgbClr val="EAE5EB"/>
      </a:lt2>
      <a:accent1>
        <a:srgbClr val="92278F"/>
      </a:accent1>
      <a:accent2>
        <a:srgbClr val="D565D2"/>
      </a:accent2>
      <a:accent3>
        <a:srgbClr val="D565D2"/>
      </a:accent3>
      <a:accent4>
        <a:srgbClr val="D565D2"/>
      </a:accent4>
      <a:accent5>
        <a:srgbClr val="E398E1"/>
      </a:accent5>
      <a:accent6>
        <a:srgbClr val="F1CBF0"/>
      </a:accent6>
      <a:hlink>
        <a:srgbClr val="92278F"/>
      </a:hlink>
      <a:folHlink>
        <a:srgbClr val="666699"/>
      </a:folHlink>
    </a:clrScheme>
    <a:fontScheme name="Crop">
      <a:maj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Crop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in">
          <a:solidFill>
            <a:schemeClr val="phClr"/>
          </a:solidFill>
          <a:prstDash val="solid"/>
        </a:ln>
        <a:ln w="34925" cap="flat" cmpd="sng" algn="in">
          <a:solidFill>
            <a:schemeClr val="phClr"/>
          </a:solidFill>
          <a:prstDash val="solid"/>
        </a:ln>
        <a:ln w="19050" cap="flat" cmpd="sng" algn="in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rop" id="{EC9488ED-E761-4D60-9AC4-764D1FE2C171}" vid="{CE19780C-D67D-4C13-9DE9-A52BC3BA51B4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TM10001105[[fn=Уголки]]</Template>
  <TotalTime>421</TotalTime>
  <Words>135</Words>
  <Application>Microsoft Office PowerPoint</Application>
  <PresentationFormat>Широкоэкранный</PresentationFormat>
  <Paragraphs>31</Paragraphs>
  <Slides>4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4</vt:i4>
      </vt:variant>
    </vt:vector>
  </HeadingPairs>
  <TitlesOfParts>
    <vt:vector size="8" baseType="lpstr">
      <vt:lpstr>Calibri</vt:lpstr>
      <vt:lpstr>Franklin Gothic Book</vt:lpstr>
      <vt:lpstr>quote-cjk-patch</vt:lpstr>
      <vt:lpstr>Crop</vt:lpstr>
      <vt:lpstr>Система доставки еды «Bunnies»</vt:lpstr>
      <vt:lpstr>Разбиение на компоненты  </vt:lpstr>
      <vt:lpstr>Компонентная диаграмма </vt:lpstr>
      <vt:lpstr>Диаграмма развёртывания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Система доставки еды «Two Bunnies»</dc:title>
  <dc:creator>Настя</dc:creator>
  <cp:lastModifiedBy>Анна Углова</cp:lastModifiedBy>
  <cp:revision>37</cp:revision>
  <dcterms:created xsi:type="dcterms:W3CDTF">2022-10-19T15:48:45Z</dcterms:created>
  <dcterms:modified xsi:type="dcterms:W3CDTF">2025-12-09T17:24:44Z</dcterms:modified>
</cp:coreProperties>
</file>